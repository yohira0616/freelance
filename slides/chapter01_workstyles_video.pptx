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dbf93aa20714ee3" /><Relationship Type="http://schemas.openxmlformats.org/officeDocument/2006/relationships/extended-properties" Target="/docProps/app.xml" Id="R4c5dc041d6a346aa" /><Relationship Type="http://schemas.openxmlformats.org/officeDocument/2006/relationships/officeDocument" Target="/ppt/presentation.xml" Id="R248ae0d813dc4202" /></Relationships>
</file>

<file path=ppt/presentation.xml><?xml version="1.0" encoding="utf-8"?>
<p:presentation xmlns:p="http://schemas.openxmlformats.org/presentationml/2006/main">
  <p:sldMasterIdLst>
    <p:sldMasterId xmlns:r="http://schemas.openxmlformats.org/officeDocument/2006/relationships" id="2147483648" r:id="Rea3ba92d49924993"/>
  </p:sldMasterIdLst>
  <p:notesMasterIdLst>
    <p:notesMasterId xmlns:r="http://schemas.openxmlformats.org/officeDocument/2006/relationships" r:id="R17d11190dfa3416a"/>
  </p:notesMasterIdLst>
  <p:sldIdLst>
    <p:sldId xmlns:r="http://schemas.openxmlformats.org/officeDocument/2006/relationships" id="256" r:id="Reaa0ae10612040f3"/>
    <p:sldId xmlns:r="http://schemas.openxmlformats.org/officeDocument/2006/relationships" id="257" r:id="R026c2e6a49a44b42"/>
    <p:sldId xmlns:r="http://schemas.openxmlformats.org/officeDocument/2006/relationships" id="258" r:id="R3137a94a0a6b47cd"/>
    <p:sldId xmlns:r="http://schemas.openxmlformats.org/officeDocument/2006/relationships" id="259" r:id="Rb366192747b94fce"/>
    <p:sldId xmlns:r="http://schemas.openxmlformats.org/officeDocument/2006/relationships" id="260" r:id="Re6fa37e7b356443d"/>
    <p:sldId xmlns:r="http://schemas.openxmlformats.org/officeDocument/2006/relationships" id="261" r:id="Ra0a01ae11ebf45ea"/>
    <p:sldId xmlns:r="http://schemas.openxmlformats.org/officeDocument/2006/relationships" id="262" r:id="Rbfb0527cd7804dcf"/>
    <p:sldId xmlns:r="http://schemas.openxmlformats.org/officeDocument/2006/relationships" id="263" r:id="Rf8c553c15812416a"/>
    <p:sldId xmlns:r="http://schemas.openxmlformats.org/officeDocument/2006/relationships" id="264" r:id="R630e6f85c61e43da"/>
    <p:sldId xmlns:r="http://schemas.openxmlformats.org/officeDocument/2006/relationships" id="265" r:id="Rda93dd81155049c7"/>
    <p:sldId xmlns:r="http://schemas.openxmlformats.org/officeDocument/2006/relationships" id="266" r:id="Raa2ead1fb47c468b"/>
    <p:sldId xmlns:r="http://schemas.openxmlformats.org/officeDocument/2006/relationships" id="267" r:id="R0577f752dbd347bd"/>
    <p:sldId xmlns:r="http://schemas.openxmlformats.org/officeDocument/2006/relationships" id="268" r:id="Re061384b24cd4c73"/>
    <p:sldId xmlns:r="http://schemas.openxmlformats.org/officeDocument/2006/relationships" id="269" r:id="Rbefea0ab8b6a471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69e8c048b24b42" /><Relationship Type="http://schemas.openxmlformats.org/officeDocument/2006/relationships/slideMaster" Target="/ppt/slideMasters/slideMaster1.xml" Id="Rea3ba92d49924993" /><Relationship Type="http://schemas.openxmlformats.org/officeDocument/2006/relationships/notesMaster" Target="/ppt/notesMasters/notesMaster1.xml" Id="R17d11190dfa3416a" /><Relationship Type="http://schemas.openxmlformats.org/officeDocument/2006/relationships/presProps" Target="/ppt/presProps.xml" Id="Rca44bf8a96a64216" /><Relationship Type="http://schemas.openxmlformats.org/officeDocument/2006/relationships/tableStyles" Target="/ppt/tableStyles.xml" Id="R4419e9c6b97e4d5c" /><Relationship Type="http://schemas.openxmlformats.org/officeDocument/2006/relationships/slide" Target="/ppt/slides/slide1.xml" Id="Reaa0ae10612040f3" /><Relationship Type="http://schemas.openxmlformats.org/officeDocument/2006/relationships/slide" Target="/ppt/slides/slide2.xml" Id="R026c2e6a49a44b42" /><Relationship Type="http://schemas.openxmlformats.org/officeDocument/2006/relationships/slide" Target="/ppt/slides/slide3.xml" Id="R3137a94a0a6b47cd" /><Relationship Type="http://schemas.openxmlformats.org/officeDocument/2006/relationships/slide" Target="/ppt/slides/slide4.xml" Id="Rb366192747b94fce" /><Relationship Type="http://schemas.openxmlformats.org/officeDocument/2006/relationships/slide" Target="/ppt/slides/slide5.xml" Id="Re6fa37e7b356443d" /><Relationship Type="http://schemas.openxmlformats.org/officeDocument/2006/relationships/slide" Target="/ppt/slides/slide6.xml" Id="Ra0a01ae11ebf45ea" /><Relationship Type="http://schemas.openxmlformats.org/officeDocument/2006/relationships/slide" Target="/ppt/slides/slide7.xml" Id="Rbfb0527cd7804dcf" /><Relationship Type="http://schemas.openxmlformats.org/officeDocument/2006/relationships/slide" Target="/ppt/slides/slide8.xml" Id="Rf8c553c15812416a" /><Relationship Type="http://schemas.openxmlformats.org/officeDocument/2006/relationships/slide" Target="/ppt/slides/slide9.xml" Id="R630e6f85c61e43da" /><Relationship Type="http://schemas.openxmlformats.org/officeDocument/2006/relationships/slide" Target="/ppt/slides/slide10.xml" Id="Rda93dd81155049c7" /><Relationship Type="http://schemas.openxmlformats.org/officeDocument/2006/relationships/slide" Target="/ppt/slides/slide11.xml" Id="Raa2ead1fb47c468b" /><Relationship Type="http://schemas.openxmlformats.org/officeDocument/2006/relationships/slide" Target="/ppt/slides/slide12.xml" Id="R0577f752dbd347bd" /><Relationship Type="http://schemas.openxmlformats.org/officeDocument/2006/relationships/slide" Target="/ppt/slides/slide13.xml" Id="Re061384b24cd4c73" /><Relationship Type="http://schemas.openxmlformats.org/officeDocument/2006/relationships/slide" Target="/ppt/slides/slide14.xml" Id="Rbefea0ab8b6a47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1746a5354245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d5ca6ecf814ab0" /><Relationship Type="http://schemas.openxmlformats.org/officeDocument/2006/relationships/notesMaster" Target="/ppt/notesMasters/notesMaster1.xml" Id="Rca0039efaced4f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3f31b2fc554984" /><Relationship Type="http://schemas.openxmlformats.org/officeDocument/2006/relationships/notesMaster" Target="/ppt/notesMasters/notesMaster1.xml" Id="R238c6335570b4bf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1877ca81c64a7b" /><Relationship Type="http://schemas.openxmlformats.org/officeDocument/2006/relationships/notesMaster" Target="/ppt/notesMasters/notesMaster1.xml" Id="Re2495386693441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6253e7983664bc9" /><Relationship Type="http://schemas.openxmlformats.org/officeDocument/2006/relationships/notesMaster" Target="/ppt/notesMasters/notesMaster1.xml" Id="R58a1535d6a7b45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4afa981c264676" /><Relationship Type="http://schemas.openxmlformats.org/officeDocument/2006/relationships/notesMaster" Target="/ppt/notesMasters/notesMaster1.xml" Id="R1f5bea21bea74d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ead0e9a2b542d4" /><Relationship Type="http://schemas.openxmlformats.org/officeDocument/2006/relationships/notesMaster" Target="/ppt/notesMasters/notesMaster1.xml" Id="R0a6ef3f2d02147b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7512e399e8c4ad9" /><Relationship Type="http://schemas.openxmlformats.org/officeDocument/2006/relationships/notesMaster" Target="/ppt/notesMasters/notesMaster1.xml" Id="Rd024e08d49d9497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4d01f56643e4528" /><Relationship Type="http://schemas.openxmlformats.org/officeDocument/2006/relationships/notesMaster" Target="/ppt/notesMasters/notesMaster1.xml" Id="Rd12bbd8884ab483e" /></Relationships>
</file>

<file path=ppt/notesSlides/_rels/notesSlide9.xml.rels>&#65279;<?xml version="1.0" encoding="utf-8"?><Relationships xmlns="http://schemas.openxmlformats.org/package/2006/relationships"><Relationship Type="http://schemas.openxmlformats.org/officeDocument/2006/relationships/slide" Target="/ppt/slides/slide9.xml" Id="Rf2a8d4bbbcc04d62" /><Relationship Type="http://schemas.openxmlformats.org/officeDocument/2006/relationships/notesMaster" Target="/ppt/notesMasters/notesMaster1.xml" Id="R43badd70f17b4c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4f5eceab05a4cd7" /><Relationship Type="http://schemas.openxmlformats.org/officeDocument/2006/relationships/notesMaster" Target="/ppt/notesMasters/notesMaster1.xml" Id="R0cda21a8227248d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203c26753914abf" /><Relationship Type="http://schemas.openxmlformats.org/officeDocument/2006/relationships/notesMaster" Target="/ppt/notesMasters/notesMaster1.xml" Id="R9d3187daa9dd445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370277ff4484446" /><Relationship Type="http://schemas.openxmlformats.org/officeDocument/2006/relationships/notesMaster" Target="/ppt/notesMasters/notesMaster1.xml" Id="R043ba04238994ac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0a4ab12bf0a4be5" /><Relationship Type="http://schemas.openxmlformats.org/officeDocument/2006/relationships/notesMaster" Target="/ppt/notesMasters/notesMaster1.xml" Id="R11b7d2d3f97c42f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f6b7a728d3c4b9e" /><Relationship Type="http://schemas.openxmlformats.org/officeDocument/2006/relationships/notesMaster" Target="/ppt/notesMasters/notesMaster1.xml" Id="R469091e764a44d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こんにちは、大平です。この章では、フリーランスエンジニアの主な働き方を整理します。自由な働き方と一括りにせず、まずは収益の作り方によって3つに分けて理解していきましょう。</a:t>
            </a:r>
          </a:p>
          <a:p xmlns:a="http://schemas.openxmlformats.org/drawingml/2006/main">
            <a:r>
              <a:t/>
            </a:r>
          </a:p>
          <a:p xmlns:a="http://schemas.openxmlformats.org/drawingml/2006/main">
            <a:r>
              <a:t>[Sources]</a:t>
            </a:r>
          </a:p>
          <a:p xmlns:a="http://schemas.openxmlformats.org/drawingml/2006/main">
            <a:r>
              <a:t>- bible/2.0/chapter01_workstyles.md（リポジトリ内の原稿）</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この章のゴールは3つです。働き方の違いを知ること、独立直後にどの働き方から始めるべきか判断できること、そして将来的に高単価や直契約へ進むための道筋を理解することです。</a:t>
            </a:r>
          </a:p>
          <a:p xmlns:a="http://schemas.openxmlformats.org/drawingml/2006/main">
            <a:r>
              <a:t/>
            </a:r>
          </a:p>
          <a:p xmlns:a="http://schemas.openxmlformats.org/drawingml/2006/main">
            <a:r>
              <a:t>[Sources]</a:t>
            </a:r>
          </a:p>
          <a:p xmlns:a="http://schemas.openxmlformats.org/drawingml/2006/main">
            <a:r>
              <a:t>- bible/2.0/chapter01_workstyles.md（リポジトリ内の原稿）</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フリーランスの働き方は細かく見れば多様ですが、収益構造で整理すると業務委託・受託開発・個人開発の3つです。どれが優れているという話ではなく、必要な信用、資金、営業力、リスクが異なります。</a:t>
            </a:r>
          </a:p>
          <a:p xmlns:a="http://schemas.openxmlformats.org/drawingml/2006/main">
            <a:r>
              <a:t/>
            </a:r>
          </a:p>
          <a:p xmlns:a="http://schemas.openxmlformats.org/drawingml/2006/main">
            <a:r>
              <a:t>[Sources]</a:t>
            </a:r>
          </a:p>
          <a:p xmlns:a="http://schemas.openxmlformats.org/drawingml/2006/main">
            <a:r>
              <a:t>- bible/2.0/chapter01_workstyles.md（リポジトリ内の原稿）</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エージェント経由の案件で多いのが準委任契約です。月額と稼働時間の幅が決まっているため、売上と働く時間の見込みを立てやすいのが特徴です。一方、時間を提供する契約なので複数案件の掛け持ちはしにくくなります。</a:t>
            </a:r>
          </a:p>
          <a:p xmlns:a="http://schemas.openxmlformats.org/drawingml/2006/main">
            <a:r>
              <a:t/>
            </a:r>
          </a:p>
          <a:p xmlns:a="http://schemas.openxmlformats.org/drawingml/2006/main">
            <a:r>
              <a:t>[Sources]</a:t>
            </a:r>
          </a:p>
          <a:p xmlns:a="http://schemas.openxmlformats.org/drawingml/2006/main">
            <a:r>
              <a:t>- bible/2.0/chapter01_workstyles.md（リポジトリ内の原稿）</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受託開発は、期限までに成果物を完成させて納品する働き方です。仕事の進め方は自分で決めやすい一方、仕様を事前に詰める力や、追加要望を管理する力、納品後の責任まで含めて引き受けます。業務委託で十分な実績と自信をつけてから挑戦する、中級者以上向けの選択肢です。</a:t>
            </a:r>
          </a:p>
          <a:p xmlns:a="http://schemas.openxmlformats.org/drawingml/2006/main">
            <a:r>
              <a:t/>
            </a:r>
          </a:p>
          <a:p xmlns:a="http://schemas.openxmlformats.org/drawingml/2006/main">
            <a:r>
              <a:t>[Sources]</a:t>
            </a:r>
          </a:p>
          <a:p xmlns:a="http://schemas.openxmlformats.org/drawingml/2006/main">
            <a:r>
              <a:t>- bible/2.0/chapter01_workstyles.md（リポジトリ内の原稿）</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個人開発は自分でサービスを作り、利用者を集め、課金まで設計する働き方です。成功したときの自由度とリターンは最も大きい一方、いつ収益化できるかはわかりません。マーケティングや広報、場合によっては資金調達やチームづくりまで必要になります。</a:t>
            </a:r>
          </a:p>
          <a:p xmlns:a="http://schemas.openxmlformats.org/drawingml/2006/main">
            <a:r>
              <a:t/>
            </a:r>
          </a:p>
          <a:p xmlns:a="http://schemas.openxmlformats.org/drawingml/2006/main">
            <a:r>
              <a:t>[Sources]</a:t>
            </a:r>
          </a:p>
          <a:p xmlns:a="http://schemas.openxmlformats.org/drawingml/2006/main">
            <a:r>
              <a:t>- bible/2.0/chapter01_workstyles.md（リポジトリ内の原稿）</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では、これから独立する人はどこから始めるべきか。結論は業務委託です。理想の自由を最初から取りに行くのではなく、まずキャッシュフローと実績を安定させ、その余力で次の選択肢を作っていきます。</a:t>
            </a:r>
          </a:p>
          <a:p xmlns:a="http://schemas.openxmlformats.org/drawingml/2006/main">
            <a:r>
              <a:t/>
            </a:r>
          </a:p>
          <a:p xmlns:a="http://schemas.openxmlformats.org/drawingml/2006/main">
            <a:r>
              <a:t>[Sources]</a:t>
            </a:r>
          </a:p>
          <a:p xmlns:a="http://schemas.openxmlformats.org/drawingml/2006/main">
            <a:r>
              <a:t>- bible/2.0/chapter01_workstyles.md（リポジトリ内の原稿）</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業務委託を勧める理由は3つです。エージェントによる案件供給、精算幅による稼働リスクの管理、そして現場で信用と人脈を作れること。この3つが、独立直後の不確実性を大きく下げます。</a:t>
            </a:r>
          </a:p>
          <a:p xmlns:a="http://schemas.openxmlformats.org/drawingml/2006/main">
            <a:r>
              <a:t/>
            </a:r>
          </a:p>
          <a:p xmlns:a="http://schemas.openxmlformats.org/drawingml/2006/main">
            <a:r>
              <a:t>[Sources]</a:t>
            </a:r>
          </a:p>
          <a:p xmlns:a="http://schemas.openxmlformats.org/drawingml/2006/main">
            <a:r>
              <a:t>- bible/2.0/chapter01_workstyles.md（リポジトリ内の原稿）</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独立直後から自力で集客基盤を作るには時間がかかります。売上がない状態で理想の商流だけを追うと、先に現金や気力が尽きます。まずエージェントで売上を作りながら、並行して発信や紹介による独自商流を育てるのが現実的です。</a:t>
            </a:r>
          </a:p>
          <a:p xmlns:a="http://schemas.openxmlformats.org/drawingml/2006/main">
            <a:r>
              <a:t/>
            </a:r>
          </a:p>
          <a:p xmlns:a="http://schemas.openxmlformats.org/drawingml/2006/main">
            <a:r>
              <a:t>[Sources]</a:t>
            </a:r>
          </a:p>
          <a:p xmlns:a="http://schemas.openxmlformats.org/drawingml/2006/main">
            <a:r>
              <a:t>- bible/2.0/chapter01_workstyles.md（リポジトリ内の原稿）</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準委任案件では月額と精算幅が定められることが多く、何時間働き、いくら売り上げるかを把握しやすくなります。契約上の範囲を超える稼働が続く場合は、精算や契約継続の判断が必要です。条件を守らないクライアントと無理に長く付き合う必要はありません。</a:t>
            </a:r>
          </a:p>
          <a:p xmlns:a="http://schemas.openxmlformats.org/drawingml/2006/main">
            <a:r>
              <a:t/>
            </a:r>
          </a:p>
          <a:p xmlns:a="http://schemas.openxmlformats.org/drawingml/2006/main">
            <a:r>
              <a:t>[Sources]</a:t>
            </a:r>
          </a:p>
          <a:p xmlns:a="http://schemas.openxmlformats.org/drawingml/2006/main">
            <a:r>
              <a:t>- bible/2.0/chapter01_workstyles.md（リポジトリ内の原稿）</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にはフリーランスのPMやPdM、別案件を持つエンジニア、決裁権を持つ社員がいます。同じチームで高い価値を出せば、次の仕事や直契約につながります。仕事の実績と人間関係が同時に積み上がることが、業務委託の大きな資産です。</a:t>
            </a:r>
          </a:p>
          <a:p xmlns:a="http://schemas.openxmlformats.org/drawingml/2006/main">
            <a:r>
              <a:t/>
            </a:r>
          </a:p>
          <a:p xmlns:a="http://schemas.openxmlformats.org/drawingml/2006/main">
            <a:r>
              <a:t>[Sources]</a:t>
            </a:r>
          </a:p>
          <a:p xmlns:a="http://schemas.openxmlformats.org/drawingml/2006/main">
            <a:r>
              <a:t>- bible/2.0/chapter01_workstyles.md（リポジトリ内の原稿）</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れは著者自身の過去事例です。最初の案件は60万円、その後70万円、79万円を経て83万円へ上がり、副業案件も加わりました。ここで伝えたいのは金額そのものではなく、案件実績と周囲から得た相場観が、次の交渉と選択肢を広げたという点です。表示額は当時の税込金額です。</a:t>
            </a:r>
          </a:p>
          <a:p xmlns:a="http://schemas.openxmlformats.org/drawingml/2006/main">
            <a:r>
              <a:t/>
            </a:r>
          </a:p>
          <a:p xmlns:a="http://schemas.openxmlformats.org/drawingml/2006/main">
            <a:r>
              <a:t>[Sources]</a:t>
            </a:r>
          </a:p>
          <a:p xmlns:a="http://schemas.openxmlformats.org/drawingml/2006/main">
            <a:r>
              <a:t>- bible/2.0/chapter01_workstyles.md（リポジトリ内の原稿）</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エージェントを使い続けることが最終目的ではありません。まず案件を獲得し、現場で信用と実績を作り、その結果として紹介や直契約へ進みます。発注側の支払総額を抑えながら、自分の受取額を増やせる関係を目指します。</a:t>
            </a:r>
          </a:p>
          <a:p xmlns:a="http://schemas.openxmlformats.org/drawingml/2006/main">
            <a:r>
              <a:t/>
            </a:r>
          </a:p>
          <a:p xmlns:a="http://schemas.openxmlformats.org/drawingml/2006/main">
            <a:r>
              <a:t>[Sources]</a:t>
            </a:r>
          </a:p>
          <a:p xmlns:a="http://schemas.openxmlformats.org/drawingml/2006/main">
            <a:r>
              <a:t>- bible/2.0/chapter01_workstyles.md（リポジトリ内の原稿）</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章のまとめです。働き方は業務委託・受託開発・個人開発の3つ。独立直後は業務委託でキャッシュフローを安定させる。そこで得た実績と人脈を使って、紹介や直契約へ進む。この現実的な順番を意識してください。</a:t>
            </a:r>
          </a:p>
          <a:p xmlns:a="http://schemas.openxmlformats.org/drawingml/2006/main">
            <a:r>
              <a:t/>
            </a:r>
          </a:p>
          <a:p xmlns:a="http://schemas.openxmlformats.org/drawingml/2006/main">
            <a:r>
              <a:t>[Sources]</a:t>
            </a:r>
          </a:p>
          <a:p xmlns:a="http://schemas.openxmlformats.org/drawingml/2006/main">
            <a:r>
              <a:t>- bible/2.0/chapter01_workstyles.md（リポジトリ内の原稿）</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18aa1a7415a48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a80c0ec3a1740e1" /><Relationship Type="http://schemas.openxmlformats.org/officeDocument/2006/relationships/slideLayout" Target="/ppt/slideLayouts/slideLayout1.xml" Id="Rfa3681c9664340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a3681c9664340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85bd0ffeeac4476" /><Relationship Type="http://schemas.openxmlformats.org/officeDocument/2006/relationships/notesSlide" Target="/ppt/notesSlides/notesSlide1.xml" Id="R87529758949e40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b28d58972f24af2" /><Relationship Type="http://schemas.openxmlformats.org/officeDocument/2006/relationships/notesSlide" Target="/ppt/notesSlides/notesSlide2.xml" Id="Rd2b1432490f64f1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71b72159631433a" /><Relationship Type="http://schemas.openxmlformats.org/officeDocument/2006/relationships/notesSlide" Target="/ppt/notesSlides/notesSlide3.xml" Id="R8e3602169bd14c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b1970df850a4fc0" /><Relationship Type="http://schemas.openxmlformats.org/officeDocument/2006/relationships/notesSlide" Target="/ppt/notesSlides/notesSlide4.xml" Id="Rfcfd07a3cc2c4dd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516c43a365e43bd" /><Relationship Type="http://schemas.openxmlformats.org/officeDocument/2006/relationships/notesSlide" Target="/ppt/notesSlides/notesSlide5.xml" Id="R1a42782b33a948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f46713da989479c" /><Relationship Type="http://schemas.openxmlformats.org/officeDocument/2006/relationships/notesSlide" Target="/ppt/notesSlides/notesSlide6.xml" Id="R8e781dea8a2a4f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dbbdccbd9c24e1a" /><Relationship Type="http://schemas.openxmlformats.org/officeDocument/2006/relationships/notesSlide" Target="/ppt/notesSlides/notesSlide7.xml" Id="R068ca80007984fb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b52387a52654619" /><Relationship Type="http://schemas.openxmlformats.org/officeDocument/2006/relationships/notesSlide" Target="/ppt/notesSlides/notesSlide8.xml" Id="R49320492a98346f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7a52696d57843b4" /><Relationship Type="http://schemas.openxmlformats.org/officeDocument/2006/relationships/notesSlide" Target="/ppt/notesSlides/notesSlide9.xml" Id="R2f18aebfe5d2490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53f590d73654ff3" /><Relationship Type="http://schemas.openxmlformats.org/officeDocument/2006/relationships/notesSlide" Target="/ppt/notesSlides/notesSlide10.xml" Id="R09d767395bbd434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ad5e22453384c94" /><Relationship Type="http://schemas.openxmlformats.org/officeDocument/2006/relationships/notesSlide" Target="/ppt/notesSlides/notesSlide11.xml" Id="R3754fb3243074aa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ba82d589e6b4b28" /><Relationship Type="http://schemas.openxmlformats.org/officeDocument/2006/relationships/notesSlide" Target="/ppt/notesSlides/notesSlide12.xml" Id="Rd59099fcdcf44de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1b147b4f23347a8" /><Relationship Type="http://schemas.openxmlformats.org/officeDocument/2006/relationships/notesSlide" Target="/ppt/notesSlides/notesSlide13.xml" Id="R2ce31feaeb1b4f3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10e2b4628cf48ee" /><Relationship Type="http://schemas.openxmlformats.org/officeDocument/2006/relationships/notesSlide" Target="/ppt/notesSlides/notesSlide14.xml" Id="Rdd8f3d7f6d92448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8D5F303B-0909-4D96-9178-13FF1A4F452C}"/>
              </a:ext>
            </a:extLst>
          </p:cNvPr>
          <p:cNvSpPr>
            <a:spLocks xmlns:a="http://schemas.openxmlformats.org/drawingml/2006/main" noGrp="1"/>
          </p:cNvSpPr>
          <p:nvPr/>
        </p:nvSpPr>
        <p:spPr>
          <a:xfrm xmlns:a="http://schemas.openxmlformats.org/drawingml/2006/main">
            <a:off x="393668" y="2579942"/>
            <a:ext cx="9448800" cy="3624263"/>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主な
ワークスタイル</a:t>
            </a:r>
          </a:p>
        </p:txBody>
      </p:sp>
      <p:sp>
        <p:nvSpPr>
          <p:cNvPr id="2" name="Subtitle-4-2">
            <a:extLst xmlns:a="http://schemas.openxmlformats.org/drawingml/2006/main">
              <a:ext uri="{FF2B5EF4-FFF2-40B4-BE49-F238E27FC236}">
                <a16:creationId xmlns:a16="http://schemas.microsoft.com/office/drawing/2014/main" id="{871E46E1-0B6B-49A6-8844-A5B21DE11448}"/>
              </a:ext>
            </a:extLst>
          </p:cNvPr>
          <p:cNvSpPr>
            <a:spLocks xmlns:a="http://schemas.openxmlformats.org/drawingml/2006/main" noGrp="1"/>
          </p:cNvSpPr>
          <p:nvPr/>
        </p:nvSpPr>
        <p:spPr>
          <a:xfrm xmlns:a="http://schemas.openxmlformats.org/drawingml/2006/main">
            <a:off x="393668" y="392240"/>
            <a:ext cx="6157817"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フリーランスエンジニア完全攻略バイブル</a:t>
            </a:r>
          </a:p>
        </p:txBody>
      </p:sp>
      <p:sp>
        <p:nvSpPr>
          <p:cNvPr id="3" name="Subtitle-4-3">
            <a:extLst xmlns:a="http://schemas.openxmlformats.org/drawingml/2006/main">
              <a:ext uri="{FF2B5EF4-FFF2-40B4-BE49-F238E27FC236}">
                <a16:creationId xmlns:a16="http://schemas.microsoft.com/office/drawing/2014/main" id="{87931A7F-44A2-4D12-B28C-9B2FF2582BA7}"/>
              </a:ext>
            </a:extLst>
          </p:cNvPr>
          <p:cNvSpPr>
            <a:spLocks xmlns:a="http://schemas.openxmlformats.org/drawingml/2006/main" noGrp="1"/>
          </p:cNvSpPr>
          <p:nvPr/>
        </p:nvSpPr>
        <p:spPr>
          <a:xfrm xmlns:a="http://schemas.openxmlformats.org/drawingml/2006/main">
            <a:off x="7886700" y="392240"/>
            <a:ext cx="39116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第1章</a:t>
            </a:r>
          </a:p>
        </p:txBody>
      </p:sp>
    </p:spTree>
    <p:extLst>
      <p:ext uri="{BB962C8B-B14F-4D97-AF65-F5344CB8AC3E}">
        <p14:creationId xmlns:p14="http://schemas.microsoft.com/office/powerpoint/2010/main" val="88311831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Google-Shape-532-p58-2">
            <a:extLst xmlns:a="http://schemas.openxmlformats.org/drawingml/2006/main">
              <a:ext uri="{FF2B5EF4-FFF2-40B4-BE49-F238E27FC236}">
                <a16:creationId xmlns:a16="http://schemas.microsoft.com/office/drawing/2014/main" id="{A2F5FF97-C426-4725-A098-6D635438E525}"/>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02</a:t>
            </a:r>
          </a:p>
        </p:txBody>
      </p:sp>
      <p:sp>
        <p:nvSpPr>
          <p:cNvPr id="2" name="Google-Shape-533-p58-3">
            <a:extLst xmlns:a="http://schemas.openxmlformats.org/drawingml/2006/main">
              <a:ext uri="{FF2B5EF4-FFF2-40B4-BE49-F238E27FC236}">
                <a16:creationId xmlns:a16="http://schemas.microsoft.com/office/drawing/2014/main" id="{49BFC222-5F15-4783-8C4E-437077C29043}"/>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この章でわかること</a:t>
            </a:r>
          </a:p>
        </p:txBody>
      </p:sp>
      <p:sp>
        <p:nvSpPr>
          <p:cNvPr id="3" name="Google-Shape-558-p61-4">
            <a:extLst xmlns:a="http://schemas.openxmlformats.org/drawingml/2006/main">
              <a:ext uri="{FF2B5EF4-FFF2-40B4-BE49-F238E27FC236}">
                <a16:creationId xmlns:a16="http://schemas.microsoft.com/office/drawing/2014/main" id="{9EAEF0E2-9730-424E-8607-840D7AE65872}"/>
              </a:ext>
            </a:extLst>
          </p:cNvPr>
          <p:cNvSpPr>
            <a:spLocks xmlns:a="http://schemas.openxmlformats.org/drawingml/2006/main" noGrp="1"/>
          </p:cNvSpPr>
          <p:nvPr/>
        </p:nvSpPr>
        <p:spPr>
          <a:xfrm xmlns:a="http://schemas.openxmlformats.org/drawingml/2006/main">
            <a:off x="393668" y="4013168"/>
            <a:ext cx="3568732" cy="1981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働き方
3つの違い</a:t>
            </a:r>
          </a:p>
        </p:txBody>
      </p:sp>
      <p:sp>
        <p:nvSpPr>
          <p:cNvPr id="4" name="Google-Shape-559-p61-5">
            <a:extLst xmlns:a="http://schemas.openxmlformats.org/drawingml/2006/main">
              <a:ext uri="{FF2B5EF4-FFF2-40B4-BE49-F238E27FC236}">
                <a16:creationId xmlns:a16="http://schemas.microsoft.com/office/drawing/2014/main" id="{B0765A6F-244F-4C53-B956-5C1303CA598A}"/>
              </a:ext>
            </a:extLst>
          </p:cNvPr>
          <p:cNvSpPr>
            <a:spLocks xmlns:a="http://schemas.openxmlformats.org/drawingml/2006/main" noGrp="1"/>
          </p:cNvSpPr>
          <p:nvPr/>
        </p:nvSpPr>
        <p:spPr>
          <a:xfrm xmlns:a="http://schemas.openxmlformats.org/drawingml/2006/main">
            <a:off x="4317968" y="4013168"/>
            <a:ext cx="3568732" cy="1981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1年目に
失敗しない選び方</a:t>
            </a:r>
          </a:p>
        </p:txBody>
      </p:sp>
      <p:sp>
        <p:nvSpPr>
          <p:cNvPr id="5" name="Google-Shape-560-p61-6">
            <a:extLst xmlns:a="http://schemas.openxmlformats.org/drawingml/2006/main">
              <a:ext uri="{FF2B5EF4-FFF2-40B4-BE49-F238E27FC236}">
                <a16:creationId xmlns:a16="http://schemas.microsoft.com/office/drawing/2014/main" id="{64456FBC-89C4-40A2-919C-D2F42E5B5D7A}"/>
              </a:ext>
            </a:extLst>
          </p:cNvPr>
          <p:cNvSpPr>
            <a:spLocks xmlns:a="http://schemas.openxmlformats.org/drawingml/2006/main" noGrp="1"/>
          </p:cNvSpPr>
          <p:nvPr/>
        </p:nvSpPr>
        <p:spPr>
          <a:xfrm xmlns:a="http://schemas.openxmlformats.org/drawingml/2006/main">
            <a:off x="8232267" y="4013168"/>
            <a:ext cx="3568732" cy="1981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高単価へ進む
主戦略</a:t>
            </a:r>
          </a:p>
        </p:txBody>
      </p:sp>
      <p:sp>
        <p:nvSpPr>
          <p:cNvPr id="6" name="Google-Shape-561-p61-7">
            <a:extLst xmlns:a="http://schemas.openxmlformats.org/drawingml/2006/main">
              <a:ext uri="{FF2B5EF4-FFF2-40B4-BE49-F238E27FC236}">
                <a16:creationId xmlns:a16="http://schemas.microsoft.com/office/drawing/2014/main" id="{7139D86D-CE99-491B-8693-418AE9524F3C}"/>
              </a:ext>
            </a:extLst>
          </p:cNvPr>
          <p:cNvSpPr>
            <a:spLocks xmlns:a="http://schemas.openxmlformats.org/drawingml/2006/main" noGrp="1"/>
          </p:cNvSpPr>
          <p:nvPr/>
        </p:nvSpPr>
        <p:spPr>
          <a:xfrm xmlns:a="http://schemas.openxmlformats.org/drawingml/2006/main">
            <a:off x="4279868" y="3382328"/>
            <a:ext cx="315563" cy="353854"/>
          </a:xfrm>
          <a:custGeom xmlns:a="http://schemas.openxmlformats.org/drawingml/2006/main">
            <a:pathLst>
              <a:path w="192747900" h="191595375">
                <a:moveTo>
                  <a:pt x="107661075" y="24707850"/>
                </a:moveTo>
                <a:lnTo>
                  <a:pt x="20716875" y="114138075"/>
                </a:lnTo>
                <a:lnTo>
                  <a:pt x="86039325" y="114138075"/>
                </a:lnTo>
                <a:cubicBezTo>
                  <a:pt x="89192100" y="114138075"/>
                  <a:pt x="92182950" y="115423950"/>
                  <a:pt x="94135575" y="117614700"/>
                </a:cubicBezTo>
                <a:cubicBezTo>
                  <a:pt x="96097725" y="119814975"/>
                  <a:pt x="96821625" y="122682000"/>
                  <a:pt x="96097725" y="125406150"/>
                </a:cubicBezTo>
                <a:lnTo>
                  <a:pt x="85086825" y="166897050"/>
                </a:lnTo>
                <a:lnTo>
                  <a:pt x="172031025" y="77466825"/>
                </a:lnTo>
                <a:lnTo>
                  <a:pt x="106708575" y="77466825"/>
                </a:lnTo>
                <a:cubicBezTo>
                  <a:pt x="103555800" y="77466825"/>
                  <a:pt x="100564950" y="76190475"/>
                  <a:pt x="98612325" y="73990200"/>
                </a:cubicBezTo>
                <a:cubicBezTo>
                  <a:pt x="96650175" y="71789925"/>
                  <a:pt x="95926275" y="68922900"/>
                  <a:pt x="96650175" y="66198750"/>
                </a:cubicBezTo>
                <a:lnTo>
                  <a:pt x="107661075" y="24707850"/>
                </a:lnTo>
                <a:close/>
                <a:moveTo>
                  <a:pt x="98888550" y="5648325"/>
                </a:moveTo>
                <a:cubicBezTo>
                  <a:pt x="111242475" y="-7067550"/>
                  <a:pt x="134540625" y="3457575"/>
                  <a:pt x="130206750" y="19792950"/>
                </a:cubicBezTo>
                <a:lnTo>
                  <a:pt x="119767350" y="59131200"/>
                </a:lnTo>
                <a:lnTo>
                  <a:pt x="172031025" y="59131200"/>
                </a:lnTo>
                <a:cubicBezTo>
                  <a:pt x="189718950" y="59131200"/>
                  <a:pt x="199243950" y="77552550"/>
                  <a:pt x="187690125" y="89439750"/>
                </a:cubicBezTo>
                <a:lnTo>
                  <a:pt x="93859350" y="185956575"/>
                </a:lnTo>
                <a:cubicBezTo>
                  <a:pt x="81505425" y="198672450"/>
                  <a:pt x="58207275" y="188147325"/>
                  <a:pt x="62541150" y="171811950"/>
                </a:cubicBezTo>
                <a:lnTo>
                  <a:pt x="72980550" y="132473700"/>
                </a:lnTo>
                <a:lnTo>
                  <a:pt x="20716875" y="132473700"/>
                </a:lnTo>
                <a:cubicBezTo>
                  <a:pt x="3028950" y="132473700"/>
                  <a:pt x="-6496050" y="114052350"/>
                  <a:pt x="5057775" y="102165150"/>
                </a:cubicBezTo>
                <a:lnTo>
                  <a:pt x="98888550" y="5648325"/>
                </a:lnTo>
                <a:close/>
              </a:path>
            </a:pathLst>
          </a:custGeom>
          <a:solidFill xmlns:a="http://schemas.openxmlformats.org/drawingml/2006/main">
            <a:srgbClr val="000000"/>
          </a:solidFill>
        </p:spPr>
      </p:sp>
      <p:sp>
        <p:nvSpPr>
          <p:cNvPr id="7" name="Google-Shape-562-p61-8">
            <a:extLst xmlns:a="http://schemas.openxmlformats.org/drawingml/2006/main">
              <a:ext uri="{FF2B5EF4-FFF2-40B4-BE49-F238E27FC236}">
                <a16:creationId xmlns:a16="http://schemas.microsoft.com/office/drawing/2014/main" id="{0C53CD1F-A942-400A-BA7A-9320F309479E}"/>
              </a:ext>
            </a:extLst>
          </p:cNvPr>
          <p:cNvSpPr>
            <a:spLocks xmlns:a="http://schemas.openxmlformats.org/drawingml/2006/main" noGrp="1"/>
          </p:cNvSpPr>
          <p:nvPr/>
        </p:nvSpPr>
        <p:spPr>
          <a:xfrm xmlns:a="http://schemas.openxmlformats.org/drawingml/2006/main">
            <a:off x="401384" y="3378232"/>
            <a:ext cx="327089" cy="362045"/>
          </a:xfrm>
          <a:custGeom xmlns:a="http://schemas.openxmlformats.org/drawingml/2006/main">
            <a:pathLst>
              <a:path w="205740000" h="203196825">
                <a:moveTo>
                  <a:pt x="108194475" y="20288250"/>
                </a:moveTo>
                <a:cubicBezTo>
                  <a:pt x="104908350" y="18583275"/>
                  <a:pt x="100850700" y="18583275"/>
                  <a:pt x="97545525" y="20288250"/>
                </a:cubicBezTo>
                <a:lnTo>
                  <a:pt x="30956250" y="54597300"/>
                </a:lnTo>
                <a:lnTo>
                  <a:pt x="103031925" y="90773250"/>
                </a:lnTo>
                <a:lnTo>
                  <a:pt x="177098325" y="55778400"/>
                </a:lnTo>
                <a:lnTo>
                  <a:pt x="108194475" y="20288250"/>
                </a:lnTo>
                <a:close/>
                <a:moveTo>
                  <a:pt x="184442100" y="73809225"/>
                </a:moveTo>
                <a:lnTo>
                  <a:pt x="113518950" y="107318175"/>
                </a:lnTo>
                <a:lnTo>
                  <a:pt x="113518950" y="180174900"/>
                </a:lnTo>
                <a:lnTo>
                  <a:pt x="179117625" y="146370675"/>
                </a:lnTo>
                <a:cubicBezTo>
                  <a:pt x="182422800" y="144675225"/>
                  <a:pt x="184442100" y="141541500"/>
                  <a:pt x="184442100" y="138141075"/>
                </a:cubicBezTo>
                <a:lnTo>
                  <a:pt x="184442100" y="73809225"/>
                </a:lnTo>
                <a:close/>
                <a:moveTo>
                  <a:pt x="92221050" y="180174900"/>
                </a:moveTo>
                <a:lnTo>
                  <a:pt x="92221050" y="107156250"/>
                </a:lnTo>
                <a:lnTo>
                  <a:pt x="21297900" y="71561325"/>
                </a:lnTo>
                <a:lnTo>
                  <a:pt x="21297900" y="138141075"/>
                </a:lnTo>
                <a:cubicBezTo>
                  <a:pt x="21297900" y="141541500"/>
                  <a:pt x="23317200" y="144675225"/>
                  <a:pt x="26622375" y="146370675"/>
                </a:cubicBezTo>
                <a:lnTo>
                  <a:pt x="92221050" y="180174900"/>
                </a:lnTo>
                <a:close/>
                <a:moveTo>
                  <a:pt x="86896575" y="3819525"/>
                </a:moveTo>
                <a:cubicBezTo>
                  <a:pt x="96774000" y="-1266825"/>
                  <a:pt x="108966000" y="-1266825"/>
                  <a:pt x="118843425" y="3819525"/>
                </a:cubicBezTo>
                <a:lnTo>
                  <a:pt x="189766575" y="40366950"/>
                </a:lnTo>
                <a:cubicBezTo>
                  <a:pt x="199663050" y="45462825"/>
                  <a:pt x="205740000" y="54873525"/>
                  <a:pt x="205740000" y="65055750"/>
                </a:cubicBezTo>
                <a:lnTo>
                  <a:pt x="205740000" y="138141075"/>
                </a:lnTo>
                <a:cubicBezTo>
                  <a:pt x="205740000" y="148323300"/>
                  <a:pt x="199663050" y="157743525"/>
                  <a:pt x="189766575" y="162839400"/>
                </a:cubicBezTo>
                <a:lnTo>
                  <a:pt x="118843425" y="199377300"/>
                </a:lnTo>
                <a:cubicBezTo>
                  <a:pt x="108966000" y="204473175"/>
                  <a:pt x="96774000" y="204473175"/>
                  <a:pt x="86896575" y="199377300"/>
                </a:cubicBezTo>
                <a:lnTo>
                  <a:pt x="15973425" y="162839400"/>
                </a:lnTo>
                <a:cubicBezTo>
                  <a:pt x="6096000" y="157743525"/>
                  <a:pt x="0" y="148323300"/>
                  <a:pt x="0" y="138141075"/>
                </a:cubicBezTo>
                <a:lnTo>
                  <a:pt x="0" y="65055750"/>
                </a:lnTo>
                <a:cubicBezTo>
                  <a:pt x="0" y="54873525"/>
                  <a:pt x="6096000" y="45462825"/>
                  <a:pt x="15973425" y="40366950"/>
                </a:cubicBezTo>
                <a:lnTo>
                  <a:pt x="86896575" y="3819525"/>
                </a:lnTo>
                <a:close/>
              </a:path>
            </a:pathLst>
          </a:custGeom>
          <a:solidFill xmlns:a="http://schemas.openxmlformats.org/drawingml/2006/main">
            <a:srgbClr val="000000"/>
          </a:solidFill>
        </p:spPr>
      </p:sp>
      <p:sp>
        <p:nvSpPr>
          <p:cNvPr id="8" name="Google-Shape-563-p61-9">
            <a:extLst xmlns:a="http://schemas.openxmlformats.org/drawingml/2006/main">
              <a:ext uri="{FF2B5EF4-FFF2-40B4-BE49-F238E27FC236}">
                <a16:creationId xmlns:a16="http://schemas.microsoft.com/office/drawing/2014/main" id="{DE5320FF-D851-4ACB-A8AA-5B31C8DA4A73}"/>
              </a:ext>
            </a:extLst>
          </p:cNvPr>
          <p:cNvSpPr>
            <a:spLocks xmlns:a="http://schemas.openxmlformats.org/drawingml/2006/main" noGrp="1"/>
          </p:cNvSpPr>
          <p:nvPr/>
        </p:nvSpPr>
        <p:spPr>
          <a:xfrm xmlns:a="http://schemas.openxmlformats.org/drawingml/2006/main">
            <a:off x="8231600" y="3406807"/>
            <a:ext cx="338614" cy="270891"/>
          </a:xfrm>
          <a:custGeom xmlns:a="http://schemas.openxmlformats.org/drawingml/2006/main">
            <a:pathLst>
              <a:path w="205740000" h="205740000">
                <a:moveTo>
                  <a:pt x="59245500" y="0"/>
                </a:moveTo>
                <a:lnTo>
                  <a:pt x="146494500" y="0"/>
                </a:lnTo>
                <a:cubicBezTo>
                  <a:pt x="154781250" y="0"/>
                  <a:pt x="161620200" y="0"/>
                  <a:pt x="167182800" y="561975"/>
                </a:cubicBezTo>
                <a:cubicBezTo>
                  <a:pt x="172964475" y="1162050"/>
                  <a:pt x="178279425" y="2428875"/>
                  <a:pt x="183270525" y="5610225"/>
                </a:cubicBezTo>
                <a:cubicBezTo>
                  <a:pt x="191023875" y="10534650"/>
                  <a:pt x="197310375" y="18402300"/>
                  <a:pt x="201253725" y="28079700"/>
                </a:cubicBezTo>
                <a:cubicBezTo>
                  <a:pt x="203796900" y="34318575"/>
                  <a:pt x="204816075" y="40967025"/>
                  <a:pt x="205282800" y="48196500"/>
                </a:cubicBezTo>
                <a:cubicBezTo>
                  <a:pt x="205740000" y="55149750"/>
                  <a:pt x="205740000" y="63703200"/>
                  <a:pt x="205740000" y="74056875"/>
                </a:cubicBezTo>
                <a:lnTo>
                  <a:pt x="205740000" y="131683125"/>
                </a:lnTo>
                <a:cubicBezTo>
                  <a:pt x="205740000" y="142036800"/>
                  <a:pt x="205740000" y="150590250"/>
                  <a:pt x="205282800" y="157543500"/>
                </a:cubicBezTo>
                <a:cubicBezTo>
                  <a:pt x="204816075" y="164772975"/>
                  <a:pt x="203796900" y="171421425"/>
                  <a:pt x="201253725" y="177660300"/>
                </a:cubicBezTo>
                <a:cubicBezTo>
                  <a:pt x="197310375" y="187337700"/>
                  <a:pt x="191023875" y="195205350"/>
                  <a:pt x="183270525" y="200129775"/>
                </a:cubicBezTo>
                <a:cubicBezTo>
                  <a:pt x="178279425" y="203311125"/>
                  <a:pt x="172964475" y="204577950"/>
                  <a:pt x="167182800" y="205178025"/>
                </a:cubicBezTo>
                <a:cubicBezTo>
                  <a:pt x="161620200" y="205740000"/>
                  <a:pt x="154781250" y="205740000"/>
                  <a:pt x="146494500" y="205740000"/>
                </a:cubicBezTo>
                <a:lnTo>
                  <a:pt x="59245500" y="205740000"/>
                </a:lnTo>
                <a:cubicBezTo>
                  <a:pt x="50958750" y="205740000"/>
                  <a:pt x="44119800" y="205740000"/>
                  <a:pt x="38557200" y="205178025"/>
                </a:cubicBezTo>
                <a:cubicBezTo>
                  <a:pt x="32775525" y="204577950"/>
                  <a:pt x="27460575" y="203311125"/>
                  <a:pt x="22469475" y="200129775"/>
                </a:cubicBezTo>
                <a:cubicBezTo>
                  <a:pt x="14716125" y="195205350"/>
                  <a:pt x="8429625" y="187337700"/>
                  <a:pt x="4486275" y="177660300"/>
                </a:cubicBezTo>
                <a:cubicBezTo>
                  <a:pt x="1943100" y="171421425"/>
                  <a:pt x="923925" y="164772975"/>
                  <a:pt x="457200" y="157543500"/>
                </a:cubicBezTo>
                <a:cubicBezTo>
                  <a:pt x="0" y="150590250"/>
                  <a:pt x="0" y="142036800"/>
                  <a:pt x="0" y="131683125"/>
                </a:cubicBezTo>
                <a:lnTo>
                  <a:pt x="0" y="74056875"/>
                </a:lnTo>
                <a:cubicBezTo>
                  <a:pt x="0" y="63703200"/>
                  <a:pt x="0" y="55149750"/>
                  <a:pt x="457200" y="48196500"/>
                </a:cubicBezTo>
                <a:cubicBezTo>
                  <a:pt x="923925" y="40967025"/>
                  <a:pt x="1943100" y="34318575"/>
                  <a:pt x="4486275" y="28079700"/>
                </a:cubicBezTo>
                <a:cubicBezTo>
                  <a:pt x="8429625" y="18402300"/>
                  <a:pt x="14716125" y="10534650"/>
                  <a:pt x="22469475" y="5610225"/>
                </a:cubicBezTo>
                <a:cubicBezTo>
                  <a:pt x="27460575" y="2428875"/>
                  <a:pt x="32775525" y="1162050"/>
                  <a:pt x="38557200" y="561975"/>
                </a:cubicBezTo>
                <a:cubicBezTo>
                  <a:pt x="44119800" y="0"/>
                  <a:pt x="50958750" y="0"/>
                  <a:pt x="59245500" y="0"/>
                </a:cubicBezTo>
                <a:close/>
                <a:moveTo>
                  <a:pt x="20574000" y="90011250"/>
                </a:moveTo>
                <a:lnTo>
                  <a:pt x="20574000" y="131159250"/>
                </a:lnTo>
                <a:cubicBezTo>
                  <a:pt x="20574000" y="142179675"/>
                  <a:pt x="20583525" y="149666325"/>
                  <a:pt x="20964525" y="155448000"/>
                </a:cubicBezTo>
                <a:cubicBezTo>
                  <a:pt x="21326475" y="161077275"/>
                  <a:pt x="21993225" y="163972875"/>
                  <a:pt x="22812375" y="165982650"/>
                </a:cubicBezTo>
                <a:cubicBezTo>
                  <a:pt x="24793575" y="170811825"/>
                  <a:pt x="27936825" y="174755175"/>
                  <a:pt x="31803975" y="177222150"/>
                </a:cubicBezTo>
                <a:cubicBezTo>
                  <a:pt x="33413700" y="178250850"/>
                  <a:pt x="35728275" y="179079525"/>
                  <a:pt x="40233600" y="179536725"/>
                </a:cubicBezTo>
                <a:cubicBezTo>
                  <a:pt x="44862750" y="180012975"/>
                  <a:pt x="50844450" y="180022500"/>
                  <a:pt x="59664600" y="180022500"/>
                </a:cubicBezTo>
                <a:lnTo>
                  <a:pt x="146075400" y="180022500"/>
                </a:lnTo>
                <a:cubicBezTo>
                  <a:pt x="154895550" y="180022500"/>
                  <a:pt x="160877250" y="180012975"/>
                  <a:pt x="165506400" y="179536725"/>
                </a:cubicBezTo>
                <a:cubicBezTo>
                  <a:pt x="170011725" y="179079525"/>
                  <a:pt x="172326300" y="178250850"/>
                  <a:pt x="173936025" y="177222150"/>
                </a:cubicBezTo>
                <a:cubicBezTo>
                  <a:pt x="177803175" y="174755175"/>
                  <a:pt x="180946425" y="170811825"/>
                  <a:pt x="182927625" y="165982650"/>
                </a:cubicBezTo>
                <a:cubicBezTo>
                  <a:pt x="183746775" y="163972875"/>
                  <a:pt x="184413525" y="161077275"/>
                  <a:pt x="184775475" y="155448000"/>
                </a:cubicBezTo>
                <a:cubicBezTo>
                  <a:pt x="185156475" y="149666325"/>
                  <a:pt x="185166000" y="142179675"/>
                  <a:pt x="185166000" y="131159250"/>
                </a:cubicBezTo>
                <a:lnTo>
                  <a:pt x="185166000" y="90011250"/>
                </a:lnTo>
                <a:lnTo>
                  <a:pt x="20574000" y="90011250"/>
                </a:lnTo>
                <a:close/>
                <a:moveTo>
                  <a:pt x="185146950" y="64293750"/>
                </a:moveTo>
                <a:cubicBezTo>
                  <a:pt x="185118375" y="58559700"/>
                  <a:pt x="185023125" y="54073425"/>
                  <a:pt x="184775475" y="50292000"/>
                </a:cubicBezTo>
                <a:cubicBezTo>
                  <a:pt x="184413525" y="44662725"/>
                  <a:pt x="183746775" y="41767125"/>
                  <a:pt x="182927625" y="39757350"/>
                </a:cubicBezTo>
                <a:cubicBezTo>
                  <a:pt x="180946425" y="34928175"/>
                  <a:pt x="177803175" y="30994350"/>
                  <a:pt x="173936025" y="28517850"/>
                </a:cubicBezTo>
                <a:cubicBezTo>
                  <a:pt x="172326300" y="27489150"/>
                  <a:pt x="170011725" y="26660475"/>
                  <a:pt x="165506400" y="26203275"/>
                </a:cubicBezTo>
                <a:cubicBezTo>
                  <a:pt x="160877250" y="25727025"/>
                  <a:pt x="154895550" y="25717500"/>
                  <a:pt x="146075400" y="25717500"/>
                </a:cubicBezTo>
                <a:lnTo>
                  <a:pt x="59664600" y="25717500"/>
                </a:lnTo>
                <a:cubicBezTo>
                  <a:pt x="50844450" y="25717500"/>
                  <a:pt x="44862750" y="25727025"/>
                  <a:pt x="40233600" y="26203275"/>
                </a:cubicBezTo>
                <a:cubicBezTo>
                  <a:pt x="35728275" y="26660475"/>
                  <a:pt x="33413700" y="27489150"/>
                  <a:pt x="31803975" y="28517850"/>
                </a:cubicBezTo>
                <a:cubicBezTo>
                  <a:pt x="27936825" y="30994350"/>
                  <a:pt x="24793575" y="34928175"/>
                  <a:pt x="22812375" y="39757350"/>
                </a:cubicBezTo>
                <a:cubicBezTo>
                  <a:pt x="21993225" y="41767125"/>
                  <a:pt x="21326475" y="44662725"/>
                  <a:pt x="20964525" y="50292000"/>
                </a:cubicBezTo>
                <a:cubicBezTo>
                  <a:pt x="20716875" y="54073425"/>
                  <a:pt x="20621625" y="58559700"/>
                  <a:pt x="20593050" y="64293750"/>
                </a:cubicBezTo>
                <a:lnTo>
                  <a:pt x="185146950" y="64293750"/>
                </a:lnTo>
                <a:close/>
                <a:moveTo>
                  <a:pt x="123444000" y="141446250"/>
                </a:moveTo>
                <a:cubicBezTo>
                  <a:pt x="123444000" y="134350125"/>
                  <a:pt x="128054100" y="128587500"/>
                  <a:pt x="133731000" y="128587500"/>
                </a:cubicBezTo>
                <a:lnTo>
                  <a:pt x="154305000" y="128587500"/>
                </a:lnTo>
                <a:cubicBezTo>
                  <a:pt x="159981900" y="128587500"/>
                  <a:pt x="164592000" y="134350125"/>
                  <a:pt x="164592000" y="141446250"/>
                </a:cubicBezTo>
                <a:cubicBezTo>
                  <a:pt x="164592000" y="148542375"/>
                  <a:pt x="159981900" y="154305000"/>
                  <a:pt x="154305000" y="154305000"/>
                </a:cubicBezTo>
                <a:lnTo>
                  <a:pt x="133731000" y="154305000"/>
                </a:lnTo>
                <a:cubicBezTo>
                  <a:pt x="128054100" y="154305000"/>
                  <a:pt x="123444000" y="148542375"/>
                  <a:pt x="123444000" y="141446250"/>
                </a:cubicBezTo>
                <a:close/>
              </a:path>
            </a:pathLst>
          </a:custGeom>
          <a:solidFill xmlns:a="http://schemas.openxmlformats.org/drawingml/2006/main">
            <a:srgbClr val="000000"/>
          </a:solidFill>
        </p:spPr>
      </p:sp>
    </p:spTree>
    <p:extLst>
      <p:ext uri="{BB962C8B-B14F-4D97-AF65-F5344CB8AC3E}">
        <p14:creationId xmlns:p14="http://schemas.microsoft.com/office/powerpoint/2010/main" val="35883727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Google-Shape-532-p58-2">
            <a:extLst xmlns:a="http://schemas.openxmlformats.org/drawingml/2006/main">
              <a:ext uri="{FF2B5EF4-FFF2-40B4-BE49-F238E27FC236}">
                <a16:creationId xmlns:a16="http://schemas.microsoft.com/office/drawing/2014/main" id="{CEB07877-A6FD-48FF-BC83-F7D54512AD70}"/>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03</a:t>
            </a:r>
          </a:p>
        </p:txBody>
      </p:sp>
      <p:sp>
        <p:nvSpPr>
          <p:cNvPr id="2" name="Google-Shape-533-p58-3">
            <a:extLst xmlns:a="http://schemas.openxmlformats.org/drawingml/2006/main">
              <a:ext uri="{FF2B5EF4-FFF2-40B4-BE49-F238E27FC236}">
                <a16:creationId xmlns:a16="http://schemas.microsoft.com/office/drawing/2014/main" id="{73F586F5-DC58-4287-9E1A-94700BD9792E}"/>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働き方は、大きく3つに分けられる</a:t>
            </a:r>
          </a:p>
        </p:txBody>
      </p:sp>
      <p:sp>
        <p:nvSpPr>
          <p:cNvPr id="3" name="Google-Shape-534-p58-4">
            <a:extLst xmlns:a="http://schemas.openxmlformats.org/drawingml/2006/main">
              <a:ext uri="{FF2B5EF4-FFF2-40B4-BE49-F238E27FC236}">
                <a16:creationId xmlns:a16="http://schemas.microsoft.com/office/drawing/2014/main" id="{923059CB-F6E0-4159-BA5B-C823339B654E}"/>
              </a:ext>
            </a:extLst>
          </p:cNvPr>
          <p:cNvSpPr>
            <a:spLocks xmlns:a="http://schemas.openxmlformats.org/drawingml/2006/main" noGrp="1"/>
          </p:cNvSpPr>
          <p:nvPr/>
        </p:nvSpPr>
        <p:spPr>
          <a:xfrm xmlns:a="http://schemas.openxmlformats.org/drawingml/2006/main">
            <a:off x="393668" y="3365468"/>
            <a:ext cx="3568732" cy="2628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業務委託</a:t>
            </a:r>
          </a:p>
          <a:p xmlns:a="http://schemas.openxmlformats.org/drawingml/2006/main">
            <a:pPr algn="l">
              <a:defRPr sz="2400">
                <a:solidFill>
                  <a:srgbClr val="000000"/>
                </a:solidFill>
                <a:latin typeface="Helvetica Neue"/>
                <a:ea typeface="Helvetica Neue"/>
                <a:cs typeface="Helvetica Neue"/>
              </a:defRPr>
            </a:pPr>
            <a:r>
              <a:t>時間と専門性を提供
収益を予測しやすい</a:t>
            </a:r>
          </a:p>
        </p:txBody>
      </p:sp>
      <p:sp>
        <p:nvSpPr>
          <p:cNvPr id="4" name="Content-Placeholder-1-5">
            <a:extLst xmlns:a="http://schemas.openxmlformats.org/drawingml/2006/main">
              <a:ext uri="{FF2B5EF4-FFF2-40B4-BE49-F238E27FC236}">
                <a16:creationId xmlns:a16="http://schemas.microsoft.com/office/drawing/2014/main" id="{50005B9A-BDD4-4101-9CCB-2718F8D86193}"/>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個人開発</a:t>
            </a:r>
          </a:p>
          <a:p xmlns:a="http://schemas.openxmlformats.org/drawingml/2006/main">
            <a:pPr algn="l">
              <a:defRPr sz="2400">
                <a:solidFill>
                  <a:srgbClr val="000000"/>
                </a:solidFill>
                <a:latin typeface="Helvetica Neue"/>
                <a:ea typeface="Helvetica Neue"/>
                <a:cs typeface="Helvetica Neue"/>
              </a:defRPr>
            </a:pPr>
            <a:r>
              <a:t>自分で事業を作る
上振れ幅が大きい
不確実性も大きい</a:t>
            </a:r>
          </a:p>
        </p:txBody>
      </p:sp>
      <p:sp>
        <p:nvSpPr>
          <p:cNvPr id="5" name="Content-Placeholder-2-6">
            <a:extLst xmlns:a="http://schemas.openxmlformats.org/drawingml/2006/main">
              <a:ext uri="{FF2B5EF4-FFF2-40B4-BE49-F238E27FC236}">
                <a16:creationId xmlns:a16="http://schemas.microsoft.com/office/drawing/2014/main" id="{51D96BE8-1D47-4319-9DA2-FEFD872A9678}"/>
              </a:ext>
            </a:extLst>
          </p:cNvPr>
          <p:cNvSpPr>
            <a:spLocks xmlns:a="http://schemas.openxmlformats.org/drawingml/2006/main" noGrp="1"/>
          </p:cNvSpPr>
          <p:nvPr/>
        </p:nvSpPr>
        <p:spPr>
          <a:xfrm xmlns:a="http://schemas.openxmlformats.org/drawingml/2006/main">
            <a:off x="4311682"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受託開発</a:t>
            </a:r>
          </a:p>
          <a:p xmlns:a="http://schemas.openxmlformats.org/drawingml/2006/main">
            <a:pPr algn="l">
              <a:defRPr sz="2400">
                <a:solidFill>
                  <a:srgbClr val="000000"/>
                </a:solidFill>
                <a:latin typeface="Helvetica Neue"/>
                <a:ea typeface="Helvetica Neue"/>
                <a:cs typeface="Helvetica Neue"/>
              </a:defRPr>
            </a:pPr>
            <a:r>
              <a:t>成果物を納品
裁量と責任が大きい</a:t>
            </a:r>
          </a:p>
        </p:txBody>
      </p:sp>
    </p:spTree>
    <p:extLst>
      <p:ext uri="{BB962C8B-B14F-4D97-AF65-F5344CB8AC3E}">
        <p14:creationId xmlns:p14="http://schemas.microsoft.com/office/powerpoint/2010/main" val="45083044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9" name="Google-Shape-532-p58-2">
            <a:extLst xmlns:a="http://schemas.openxmlformats.org/drawingml/2006/main">
              <a:ext uri="{FF2B5EF4-FFF2-40B4-BE49-F238E27FC236}">
                <a16:creationId xmlns:a16="http://schemas.microsoft.com/office/drawing/2014/main" id="{7A1155C0-2AB7-484B-A568-C3A958924118}"/>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04</a:t>
            </a:r>
          </a:p>
        </p:txBody>
      </p:sp>
      <p:sp>
        <p:nvSpPr>
          <p:cNvPr id="2" name="Google-Shape-533-p58-3">
            <a:extLst xmlns:a="http://schemas.openxmlformats.org/drawingml/2006/main">
              <a:ext uri="{FF2B5EF4-FFF2-40B4-BE49-F238E27FC236}">
                <a16:creationId xmlns:a16="http://schemas.microsoft.com/office/drawing/2014/main" id="{E50B6530-F7C4-46F1-BC7D-60ECD05EE024}"/>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業務委託は「時間と専門性」を提供する</a:t>
            </a:r>
          </a:p>
        </p:txBody>
      </p:sp>
      <p:sp>
        <p:nvSpPr>
          <p:cNvPr id="3" name="Google-Shape-558-p61-4">
            <a:extLst xmlns:a="http://schemas.openxmlformats.org/drawingml/2006/main">
              <a:ext uri="{FF2B5EF4-FFF2-40B4-BE49-F238E27FC236}">
                <a16:creationId xmlns:a16="http://schemas.microsoft.com/office/drawing/2014/main" id="{31B959FE-0AC2-4365-8A93-800847EEEB8F}"/>
              </a:ext>
            </a:extLst>
          </p:cNvPr>
          <p:cNvSpPr>
            <a:spLocks xmlns:a="http://schemas.openxmlformats.org/drawingml/2006/main" noGrp="1"/>
          </p:cNvSpPr>
          <p:nvPr/>
        </p:nvSpPr>
        <p:spPr>
          <a:xfrm xmlns:a="http://schemas.openxmlformats.org/drawingml/2006/main">
            <a:off x="393668" y="4013168"/>
            <a:ext cx="3568732" cy="1981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契約
準委任</a:t>
            </a:r>
          </a:p>
        </p:txBody>
      </p:sp>
      <p:sp>
        <p:nvSpPr>
          <p:cNvPr id="4" name="Google-Shape-559-p61-5">
            <a:extLst xmlns:a="http://schemas.openxmlformats.org/drawingml/2006/main">
              <a:ext uri="{FF2B5EF4-FFF2-40B4-BE49-F238E27FC236}">
                <a16:creationId xmlns:a16="http://schemas.microsoft.com/office/drawing/2014/main" id="{DE01E38C-0BC3-471A-B2D3-6CDE59766788}"/>
              </a:ext>
            </a:extLst>
          </p:cNvPr>
          <p:cNvSpPr>
            <a:spLocks xmlns:a="http://schemas.openxmlformats.org/drawingml/2006/main" noGrp="1"/>
          </p:cNvSpPr>
          <p:nvPr/>
        </p:nvSpPr>
        <p:spPr>
          <a:xfrm xmlns:a="http://schemas.openxmlformats.org/drawingml/2006/main">
            <a:off x="4317968" y="4013168"/>
            <a:ext cx="3568732" cy="1981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収益
月額＋精算幅</a:t>
            </a:r>
          </a:p>
        </p:txBody>
      </p:sp>
      <p:sp>
        <p:nvSpPr>
          <p:cNvPr id="5" name="Google-Shape-560-p61-6">
            <a:extLst xmlns:a="http://schemas.openxmlformats.org/drawingml/2006/main">
              <a:ext uri="{FF2B5EF4-FFF2-40B4-BE49-F238E27FC236}">
                <a16:creationId xmlns:a16="http://schemas.microsoft.com/office/drawing/2014/main" id="{829C5752-7096-4E5C-8E24-9AADA68D4FAE}"/>
              </a:ext>
            </a:extLst>
          </p:cNvPr>
          <p:cNvSpPr>
            <a:spLocks xmlns:a="http://schemas.openxmlformats.org/drawingml/2006/main" noGrp="1"/>
          </p:cNvSpPr>
          <p:nvPr/>
        </p:nvSpPr>
        <p:spPr>
          <a:xfrm xmlns:a="http://schemas.openxmlformats.org/drawingml/2006/main">
            <a:off x="8232267" y="4013168"/>
            <a:ext cx="3568732" cy="1981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相性
探索的な開発</a:t>
            </a:r>
          </a:p>
        </p:txBody>
      </p:sp>
      <p:sp>
        <p:nvSpPr>
          <p:cNvPr id="6" name="Google-Shape-561-p61-7">
            <a:extLst xmlns:a="http://schemas.openxmlformats.org/drawingml/2006/main">
              <a:ext uri="{FF2B5EF4-FFF2-40B4-BE49-F238E27FC236}">
                <a16:creationId xmlns:a16="http://schemas.microsoft.com/office/drawing/2014/main" id="{F24E64D9-0660-4B8D-B7BA-A33EDC1E9906}"/>
              </a:ext>
            </a:extLst>
          </p:cNvPr>
          <p:cNvSpPr>
            <a:spLocks xmlns:a="http://schemas.openxmlformats.org/drawingml/2006/main" noGrp="1"/>
          </p:cNvSpPr>
          <p:nvPr/>
        </p:nvSpPr>
        <p:spPr>
          <a:xfrm xmlns:a="http://schemas.openxmlformats.org/drawingml/2006/main">
            <a:off x="4279868" y="3382328"/>
            <a:ext cx="315563" cy="353854"/>
          </a:xfrm>
          <a:custGeom xmlns:a="http://schemas.openxmlformats.org/drawingml/2006/main">
            <a:pathLst>
              <a:path w="192747900" h="191595375">
                <a:moveTo>
                  <a:pt x="107661075" y="24707850"/>
                </a:moveTo>
                <a:lnTo>
                  <a:pt x="20716875" y="114138075"/>
                </a:lnTo>
                <a:lnTo>
                  <a:pt x="86039325" y="114138075"/>
                </a:lnTo>
                <a:cubicBezTo>
                  <a:pt x="89192100" y="114138075"/>
                  <a:pt x="92182950" y="115423950"/>
                  <a:pt x="94135575" y="117614700"/>
                </a:cubicBezTo>
                <a:cubicBezTo>
                  <a:pt x="96097725" y="119814975"/>
                  <a:pt x="96821625" y="122682000"/>
                  <a:pt x="96097725" y="125406150"/>
                </a:cubicBezTo>
                <a:lnTo>
                  <a:pt x="85086825" y="166897050"/>
                </a:lnTo>
                <a:lnTo>
                  <a:pt x="172031025" y="77466825"/>
                </a:lnTo>
                <a:lnTo>
                  <a:pt x="106708575" y="77466825"/>
                </a:lnTo>
                <a:cubicBezTo>
                  <a:pt x="103555800" y="77466825"/>
                  <a:pt x="100564950" y="76190475"/>
                  <a:pt x="98612325" y="73990200"/>
                </a:cubicBezTo>
                <a:cubicBezTo>
                  <a:pt x="96650175" y="71789925"/>
                  <a:pt x="95926275" y="68922900"/>
                  <a:pt x="96650175" y="66198750"/>
                </a:cubicBezTo>
                <a:lnTo>
                  <a:pt x="107661075" y="24707850"/>
                </a:lnTo>
                <a:close/>
                <a:moveTo>
                  <a:pt x="98888550" y="5648325"/>
                </a:moveTo>
                <a:cubicBezTo>
                  <a:pt x="111242475" y="-7067550"/>
                  <a:pt x="134540625" y="3457575"/>
                  <a:pt x="130206750" y="19792950"/>
                </a:cubicBezTo>
                <a:lnTo>
                  <a:pt x="119767350" y="59131200"/>
                </a:lnTo>
                <a:lnTo>
                  <a:pt x="172031025" y="59131200"/>
                </a:lnTo>
                <a:cubicBezTo>
                  <a:pt x="189718950" y="59131200"/>
                  <a:pt x="199243950" y="77552550"/>
                  <a:pt x="187690125" y="89439750"/>
                </a:cubicBezTo>
                <a:lnTo>
                  <a:pt x="93859350" y="185956575"/>
                </a:lnTo>
                <a:cubicBezTo>
                  <a:pt x="81505425" y="198672450"/>
                  <a:pt x="58207275" y="188147325"/>
                  <a:pt x="62541150" y="171811950"/>
                </a:cubicBezTo>
                <a:lnTo>
                  <a:pt x="72980550" y="132473700"/>
                </a:lnTo>
                <a:lnTo>
                  <a:pt x="20716875" y="132473700"/>
                </a:lnTo>
                <a:cubicBezTo>
                  <a:pt x="3028950" y="132473700"/>
                  <a:pt x="-6496050" y="114052350"/>
                  <a:pt x="5057775" y="102165150"/>
                </a:cubicBezTo>
                <a:lnTo>
                  <a:pt x="98888550" y="5648325"/>
                </a:lnTo>
                <a:close/>
              </a:path>
            </a:pathLst>
          </a:custGeom>
          <a:solidFill xmlns:a="http://schemas.openxmlformats.org/drawingml/2006/main">
            <a:srgbClr val="000000"/>
          </a:solidFill>
        </p:spPr>
      </p:sp>
      <p:sp>
        <p:nvSpPr>
          <p:cNvPr id="7" name="Google-Shape-562-p61-8">
            <a:extLst xmlns:a="http://schemas.openxmlformats.org/drawingml/2006/main">
              <a:ext uri="{FF2B5EF4-FFF2-40B4-BE49-F238E27FC236}">
                <a16:creationId xmlns:a16="http://schemas.microsoft.com/office/drawing/2014/main" id="{E9E5B466-75C6-412A-A256-620AFB5AEE87}"/>
              </a:ext>
            </a:extLst>
          </p:cNvPr>
          <p:cNvSpPr>
            <a:spLocks xmlns:a="http://schemas.openxmlformats.org/drawingml/2006/main" noGrp="1"/>
          </p:cNvSpPr>
          <p:nvPr/>
        </p:nvSpPr>
        <p:spPr>
          <a:xfrm xmlns:a="http://schemas.openxmlformats.org/drawingml/2006/main">
            <a:off x="401384" y="3378232"/>
            <a:ext cx="327089" cy="362045"/>
          </a:xfrm>
          <a:custGeom xmlns:a="http://schemas.openxmlformats.org/drawingml/2006/main">
            <a:pathLst>
              <a:path w="205740000" h="203196825">
                <a:moveTo>
                  <a:pt x="108194475" y="20288250"/>
                </a:moveTo>
                <a:cubicBezTo>
                  <a:pt x="104908350" y="18583275"/>
                  <a:pt x="100850700" y="18583275"/>
                  <a:pt x="97545525" y="20288250"/>
                </a:cubicBezTo>
                <a:lnTo>
                  <a:pt x="30956250" y="54597300"/>
                </a:lnTo>
                <a:lnTo>
                  <a:pt x="103031925" y="90773250"/>
                </a:lnTo>
                <a:lnTo>
                  <a:pt x="177098325" y="55778400"/>
                </a:lnTo>
                <a:lnTo>
                  <a:pt x="108194475" y="20288250"/>
                </a:lnTo>
                <a:close/>
                <a:moveTo>
                  <a:pt x="184442100" y="73809225"/>
                </a:moveTo>
                <a:lnTo>
                  <a:pt x="113518950" y="107318175"/>
                </a:lnTo>
                <a:lnTo>
                  <a:pt x="113518950" y="180174900"/>
                </a:lnTo>
                <a:lnTo>
                  <a:pt x="179117625" y="146370675"/>
                </a:lnTo>
                <a:cubicBezTo>
                  <a:pt x="182422800" y="144675225"/>
                  <a:pt x="184442100" y="141541500"/>
                  <a:pt x="184442100" y="138141075"/>
                </a:cubicBezTo>
                <a:lnTo>
                  <a:pt x="184442100" y="73809225"/>
                </a:lnTo>
                <a:close/>
                <a:moveTo>
                  <a:pt x="92221050" y="180174900"/>
                </a:moveTo>
                <a:lnTo>
                  <a:pt x="92221050" y="107156250"/>
                </a:lnTo>
                <a:lnTo>
                  <a:pt x="21297900" y="71561325"/>
                </a:lnTo>
                <a:lnTo>
                  <a:pt x="21297900" y="138141075"/>
                </a:lnTo>
                <a:cubicBezTo>
                  <a:pt x="21297900" y="141541500"/>
                  <a:pt x="23317200" y="144675225"/>
                  <a:pt x="26622375" y="146370675"/>
                </a:cubicBezTo>
                <a:lnTo>
                  <a:pt x="92221050" y="180174900"/>
                </a:lnTo>
                <a:close/>
                <a:moveTo>
                  <a:pt x="86896575" y="3819525"/>
                </a:moveTo>
                <a:cubicBezTo>
                  <a:pt x="96774000" y="-1266825"/>
                  <a:pt x="108966000" y="-1266825"/>
                  <a:pt x="118843425" y="3819525"/>
                </a:cubicBezTo>
                <a:lnTo>
                  <a:pt x="189766575" y="40366950"/>
                </a:lnTo>
                <a:cubicBezTo>
                  <a:pt x="199663050" y="45462825"/>
                  <a:pt x="205740000" y="54873525"/>
                  <a:pt x="205740000" y="65055750"/>
                </a:cubicBezTo>
                <a:lnTo>
                  <a:pt x="205740000" y="138141075"/>
                </a:lnTo>
                <a:cubicBezTo>
                  <a:pt x="205740000" y="148323300"/>
                  <a:pt x="199663050" y="157743525"/>
                  <a:pt x="189766575" y="162839400"/>
                </a:cubicBezTo>
                <a:lnTo>
                  <a:pt x="118843425" y="199377300"/>
                </a:lnTo>
                <a:cubicBezTo>
                  <a:pt x="108966000" y="204473175"/>
                  <a:pt x="96774000" y="204473175"/>
                  <a:pt x="86896575" y="199377300"/>
                </a:cubicBezTo>
                <a:lnTo>
                  <a:pt x="15973425" y="162839400"/>
                </a:lnTo>
                <a:cubicBezTo>
                  <a:pt x="6096000" y="157743525"/>
                  <a:pt x="0" y="148323300"/>
                  <a:pt x="0" y="138141075"/>
                </a:cubicBezTo>
                <a:lnTo>
                  <a:pt x="0" y="65055750"/>
                </a:lnTo>
                <a:cubicBezTo>
                  <a:pt x="0" y="54873525"/>
                  <a:pt x="6096000" y="45462825"/>
                  <a:pt x="15973425" y="40366950"/>
                </a:cubicBezTo>
                <a:lnTo>
                  <a:pt x="86896575" y="3819525"/>
                </a:lnTo>
                <a:close/>
              </a:path>
            </a:pathLst>
          </a:custGeom>
          <a:solidFill xmlns:a="http://schemas.openxmlformats.org/drawingml/2006/main">
            <a:srgbClr val="000000"/>
          </a:solidFill>
        </p:spPr>
      </p:sp>
      <p:sp>
        <p:nvSpPr>
          <p:cNvPr id="8" name="Google-Shape-563-p61-9">
            <a:extLst xmlns:a="http://schemas.openxmlformats.org/drawingml/2006/main">
              <a:ext uri="{FF2B5EF4-FFF2-40B4-BE49-F238E27FC236}">
                <a16:creationId xmlns:a16="http://schemas.microsoft.com/office/drawing/2014/main" id="{EB25132E-6495-4715-87C6-E4F9ACB4A259}"/>
              </a:ext>
            </a:extLst>
          </p:cNvPr>
          <p:cNvSpPr>
            <a:spLocks xmlns:a="http://schemas.openxmlformats.org/drawingml/2006/main" noGrp="1"/>
          </p:cNvSpPr>
          <p:nvPr/>
        </p:nvSpPr>
        <p:spPr>
          <a:xfrm xmlns:a="http://schemas.openxmlformats.org/drawingml/2006/main">
            <a:off x="8231600" y="3406807"/>
            <a:ext cx="338614" cy="270891"/>
          </a:xfrm>
          <a:custGeom xmlns:a="http://schemas.openxmlformats.org/drawingml/2006/main">
            <a:pathLst>
              <a:path w="205740000" h="205740000">
                <a:moveTo>
                  <a:pt x="59245500" y="0"/>
                </a:moveTo>
                <a:lnTo>
                  <a:pt x="146494500" y="0"/>
                </a:lnTo>
                <a:cubicBezTo>
                  <a:pt x="154781250" y="0"/>
                  <a:pt x="161620200" y="0"/>
                  <a:pt x="167182800" y="561975"/>
                </a:cubicBezTo>
                <a:cubicBezTo>
                  <a:pt x="172964475" y="1162050"/>
                  <a:pt x="178279425" y="2428875"/>
                  <a:pt x="183270525" y="5610225"/>
                </a:cubicBezTo>
                <a:cubicBezTo>
                  <a:pt x="191023875" y="10534650"/>
                  <a:pt x="197310375" y="18402300"/>
                  <a:pt x="201253725" y="28079700"/>
                </a:cubicBezTo>
                <a:cubicBezTo>
                  <a:pt x="203796900" y="34318575"/>
                  <a:pt x="204816075" y="40967025"/>
                  <a:pt x="205282800" y="48196500"/>
                </a:cubicBezTo>
                <a:cubicBezTo>
                  <a:pt x="205740000" y="55149750"/>
                  <a:pt x="205740000" y="63703200"/>
                  <a:pt x="205740000" y="74056875"/>
                </a:cubicBezTo>
                <a:lnTo>
                  <a:pt x="205740000" y="131683125"/>
                </a:lnTo>
                <a:cubicBezTo>
                  <a:pt x="205740000" y="142036800"/>
                  <a:pt x="205740000" y="150590250"/>
                  <a:pt x="205282800" y="157543500"/>
                </a:cubicBezTo>
                <a:cubicBezTo>
                  <a:pt x="204816075" y="164772975"/>
                  <a:pt x="203796900" y="171421425"/>
                  <a:pt x="201253725" y="177660300"/>
                </a:cubicBezTo>
                <a:cubicBezTo>
                  <a:pt x="197310375" y="187337700"/>
                  <a:pt x="191023875" y="195205350"/>
                  <a:pt x="183270525" y="200129775"/>
                </a:cubicBezTo>
                <a:cubicBezTo>
                  <a:pt x="178279425" y="203311125"/>
                  <a:pt x="172964475" y="204577950"/>
                  <a:pt x="167182800" y="205178025"/>
                </a:cubicBezTo>
                <a:cubicBezTo>
                  <a:pt x="161620200" y="205740000"/>
                  <a:pt x="154781250" y="205740000"/>
                  <a:pt x="146494500" y="205740000"/>
                </a:cubicBezTo>
                <a:lnTo>
                  <a:pt x="59245500" y="205740000"/>
                </a:lnTo>
                <a:cubicBezTo>
                  <a:pt x="50958750" y="205740000"/>
                  <a:pt x="44119800" y="205740000"/>
                  <a:pt x="38557200" y="205178025"/>
                </a:cubicBezTo>
                <a:cubicBezTo>
                  <a:pt x="32775525" y="204577950"/>
                  <a:pt x="27460575" y="203311125"/>
                  <a:pt x="22469475" y="200129775"/>
                </a:cubicBezTo>
                <a:cubicBezTo>
                  <a:pt x="14716125" y="195205350"/>
                  <a:pt x="8429625" y="187337700"/>
                  <a:pt x="4486275" y="177660300"/>
                </a:cubicBezTo>
                <a:cubicBezTo>
                  <a:pt x="1943100" y="171421425"/>
                  <a:pt x="923925" y="164772975"/>
                  <a:pt x="457200" y="157543500"/>
                </a:cubicBezTo>
                <a:cubicBezTo>
                  <a:pt x="0" y="150590250"/>
                  <a:pt x="0" y="142036800"/>
                  <a:pt x="0" y="131683125"/>
                </a:cubicBezTo>
                <a:lnTo>
                  <a:pt x="0" y="74056875"/>
                </a:lnTo>
                <a:cubicBezTo>
                  <a:pt x="0" y="63703200"/>
                  <a:pt x="0" y="55149750"/>
                  <a:pt x="457200" y="48196500"/>
                </a:cubicBezTo>
                <a:cubicBezTo>
                  <a:pt x="923925" y="40967025"/>
                  <a:pt x="1943100" y="34318575"/>
                  <a:pt x="4486275" y="28079700"/>
                </a:cubicBezTo>
                <a:cubicBezTo>
                  <a:pt x="8429625" y="18402300"/>
                  <a:pt x="14716125" y="10534650"/>
                  <a:pt x="22469475" y="5610225"/>
                </a:cubicBezTo>
                <a:cubicBezTo>
                  <a:pt x="27460575" y="2428875"/>
                  <a:pt x="32775525" y="1162050"/>
                  <a:pt x="38557200" y="561975"/>
                </a:cubicBezTo>
                <a:cubicBezTo>
                  <a:pt x="44119800" y="0"/>
                  <a:pt x="50958750" y="0"/>
                  <a:pt x="59245500" y="0"/>
                </a:cubicBezTo>
                <a:close/>
                <a:moveTo>
                  <a:pt x="20574000" y="90011250"/>
                </a:moveTo>
                <a:lnTo>
                  <a:pt x="20574000" y="131159250"/>
                </a:lnTo>
                <a:cubicBezTo>
                  <a:pt x="20574000" y="142179675"/>
                  <a:pt x="20583525" y="149666325"/>
                  <a:pt x="20964525" y="155448000"/>
                </a:cubicBezTo>
                <a:cubicBezTo>
                  <a:pt x="21326475" y="161077275"/>
                  <a:pt x="21993225" y="163972875"/>
                  <a:pt x="22812375" y="165982650"/>
                </a:cubicBezTo>
                <a:cubicBezTo>
                  <a:pt x="24793575" y="170811825"/>
                  <a:pt x="27936825" y="174755175"/>
                  <a:pt x="31803975" y="177222150"/>
                </a:cubicBezTo>
                <a:cubicBezTo>
                  <a:pt x="33413700" y="178250850"/>
                  <a:pt x="35728275" y="179079525"/>
                  <a:pt x="40233600" y="179536725"/>
                </a:cubicBezTo>
                <a:cubicBezTo>
                  <a:pt x="44862750" y="180012975"/>
                  <a:pt x="50844450" y="180022500"/>
                  <a:pt x="59664600" y="180022500"/>
                </a:cubicBezTo>
                <a:lnTo>
                  <a:pt x="146075400" y="180022500"/>
                </a:lnTo>
                <a:cubicBezTo>
                  <a:pt x="154895550" y="180022500"/>
                  <a:pt x="160877250" y="180012975"/>
                  <a:pt x="165506400" y="179536725"/>
                </a:cubicBezTo>
                <a:cubicBezTo>
                  <a:pt x="170011725" y="179079525"/>
                  <a:pt x="172326300" y="178250850"/>
                  <a:pt x="173936025" y="177222150"/>
                </a:cubicBezTo>
                <a:cubicBezTo>
                  <a:pt x="177803175" y="174755175"/>
                  <a:pt x="180946425" y="170811825"/>
                  <a:pt x="182927625" y="165982650"/>
                </a:cubicBezTo>
                <a:cubicBezTo>
                  <a:pt x="183746775" y="163972875"/>
                  <a:pt x="184413525" y="161077275"/>
                  <a:pt x="184775475" y="155448000"/>
                </a:cubicBezTo>
                <a:cubicBezTo>
                  <a:pt x="185156475" y="149666325"/>
                  <a:pt x="185166000" y="142179675"/>
                  <a:pt x="185166000" y="131159250"/>
                </a:cubicBezTo>
                <a:lnTo>
                  <a:pt x="185166000" y="90011250"/>
                </a:lnTo>
                <a:lnTo>
                  <a:pt x="20574000" y="90011250"/>
                </a:lnTo>
                <a:close/>
                <a:moveTo>
                  <a:pt x="185146950" y="64293750"/>
                </a:moveTo>
                <a:cubicBezTo>
                  <a:pt x="185118375" y="58559700"/>
                  <a:pt x="185023125" y="54073425"/>
                  <a:pt x="184775475" y="50292000"/>
                </a:cubicBezTo>
                <a:cubicBezTo>
                  <a:pt x="184413525" y="44662725"/>
                  <a:pt x="183746775" y="41767125"/>
                  <a:pt x="182927625" y="39757350"/>
                </a:cubicBezTo>
                <a:cubicBezTo>
                  <a:pt x="180946425" y="34928175"/>
                  <a:pt x="177803175" y="30994350"/>
                  <a:pt x="173936025" y="28517850"/>
                </a:cubicBezTo>
                <a:cubicBezTo>
                  <a:pt x="172326300" y="27489150"/>
                  <a:pt x="170011725" y="26660475"/>
                  <a:pt x="165506400" y="26203275"/>
                </a:cubicBezTo>
                <a:cubicBezTo>
                  <a:pt x="160877250" y="25727025"/>
                  <a:pt x="154895550" y="25717500"/>
                  <a:pt x="146075400" y="25717500"/>
                </a:cubicBezTo>
                <a:lnTo>
                  <a:pt x="59664600" y="25717500"/>
                </a:lnTo>
                <a:cubicBezTo>
                  <a:pt x="50844450" y="25717500"/>
                  <a:pt x="44862750" y="25727025"/>
                  <a:pt x="40233600" y="26203275"/>
                </a:cubicBezTo>
                <a:cubicBezTo>
                  <a:pt x="35728275" y="26660475"/>
                  <a:pt x="33413700" y="27489150"/>
                  <a:pt x="31803975" y="28517850"/>
                </a:cubicBezTo>
                <a:cubicBezTo>
                  <a:pt x="27936825" y="30994350"/>
                  <a:pt x="24793575" y="34928175"/>
                  <a:pt x="22812375" y="39757350"/>
                </a:cubicBezTo>
                <a:cubicBezTo>
                  <a:pt x="21993225" y="41767125"/>
                  <a:pt x="21326475" y="44662725"/>
                  <a:pt x="20964525" y="50292000"/>
                </a:cubicBezTo>
                <a:cubicBezTo>
                  <a:pt x="20716875" y="54073425"/>
                  <a:pt x="20621625" y="58559700"/>
                  <a:pt x="20593050" y="64293750"/>
                </a:cubicBezTo>
                <a:lnTo>
                  <a:pt x="185146950" y="64293750"/>
                </a:lnTo>
                <a:close/>
                <a:moveTo>
                  <a:pt x="123444000" y="141446250"/>
                </a:moveTo>
                <a:cubicBezTo>
                  <a:pt x="123444000" y="134350125"/>
                  <a:pt x="128054100" y="128587500"/>
                  <a:pt x="133731000" y="128587500"/>
                </a:cubicBezTo>
                <a:lnTo>
                  <a:pt x="154305000" y="128587500"/>
                </a:lnTo>
                <a:cubicBezTo>
                  <a:pt x="159981900" y="128587500"/>
                  <a:pt x="164592000" y="134350125"/>
                  <a:pt x="164592000" y="141446250"/>
                </a:cubicBezTo>
                <a:cubicBezTo>
                  <a:pt x="164592000" y="148542375"/>
                  <a:pt x="159981900" y="154305000"/>
                  <a:pt x="154305000" y="154305000"/>
                </a:cubicBezTo>
                <a:lnTo>
                  <a:pt x="133731000" y="154305000"/>
                </a:lnTo>
                <a:cubicBezTo>
                  <a:pt x="128054100" y="154305000"/>
                  <a:pt x="123444000" y="148542375"/>
                  <a:pt x="123444000" y="141446250"/>
                </a:cubicBezTo>
                <a:close/>
              </a:path>
            </a:pathLst>
          </a:custGeom>
          <a:solidFill xmlns:a="http://schemas.openxmlformats.org/drawingml/2006/main">
            <a:srgbClr val="000000"/>
          </a:solidFill>
        </p:spPr>
      </p:sp>
    </p:spTree>
    <p:extLst>
      <p:ext uri="{BB962C8B-B14F-4D97-AF65-F5344CB8AC3E}">
        <p14:creationId xmlns:p14="http://schemas.microsoft.com/office/powerpoint/2010/main" val="209269783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 name="Google-Shape-532-p58-2">
            <a:extLst xmlns:a="http://schemas.openxmlformats.org/drawingml/2006/main">
              <a:ext uri="{FF2B5EF4-FFF2-40B4-BE49-F238E27FC236}">
                <a16:creationId xmlns:a16="http://schemas.microsoft.com/office/drawing/2014/main" id="{88449CB4-3B5F-4D81-89E8-B05CAAB1A58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05</a:t>
            </a:r>
          </a:p>
        </p:txBody>
      </p:sp>
      <p:sp>
        <p:nvSpPr>
          <p:cNvPr id="2" name="Google-Shape-533-p58-3">
            <a:extLst xmlns:a="http://schemas.openxmlformats.org/drawingml/2006/main">
              <a:ext uri="{FF2B5EF4-FFF2-40B4-BE49-F238E27FC236}">
                <a16:creationId xmlns:a16="http://schemas.microsoft.com/office/drawing/2014/main" id="{ED0BFDB6-2C79-447B-B5D4-67CB9ACA2132}"/>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受託開発は、自由度と責任がセット</a:t>
            </a:r>
          </a:p>
        </p:txBody>
      </p:sp>
      <p:sp>
        <p:nvSpPr>
          <p:cNvPr id="3" name="Google-Shape-534-p58-4">
            <a:extLst xmlns:a="http://schemas.openxmlformats.org/drawingml/2006/main">
              <a:ext uri="{FF2B5EF4-FFF2-40B4-BE49-F238E27FC236}">
                <a16:creationId xmlns:a16="http://schemas.microsoft.com/office/drawing/2014/main" id="{9570BA1F-0371-407B-AC02-7686F8D9D947}"/>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魅力</a:t>
            </a:r>
          </a:p>
          <a:p xmlns:a="http://schemas.openxmlformats.org/drawingml/2006/main">
            <a:pPr algn="l">
              <a:defRPr sz="2400">
                <a:solidFill>
                  <a:srgbClr val="000000"/>
                </a:solidFill>
                <a:latin typeface="Helvetica Neue"/>
                <a:ea typeface="Helvetica Neue"/>
                <a:cs typeface="Helvetica Neue"/>
              </a:defRPr>
            </a:pPr>
            <a:r>
              <a:t>進め方の裁量が大きい
複数案件も組みやすい</a:t>
            </a:r>
          </a:p>
        </p:txBody>
      </p:sp>
      <p:sp>
        <p:nvSpPr>
          <p:cNvPr id="4" name="Content-Placeholder-3-5">
            <a:extLst xmlns:a="http://schemas.openxmlformats.org/drawingml/2006/main">
              <a:ext uri="{FF2B5EF4-FFF2-40B4-BE49-F238E27FC236}">
                <a16:creationId xmlns:a16="http://schemas.microsoft.com/office/drawing/2014/main" id="{CB46F2A6-516B-4A46-84F3-99E94C04B1CE}"/>
              </a:ext>
            </a:extLst>
          </p:cNvPr>
          <p:cNvSpPr>
            <a:spLocks xmlns:a="http://schemas.openxmlformats.org/drawingml/2006/main" noGrp="1"/>
          </p:cNvSpPr>
          <p:nvPr/>
        </p:nvSpPr>
        <p:spPr>
          <a:xfrm xmlns:a="http://schemas.openxmlformats.org/drawingml/2006/main">
            <a:off x="6256592" y="2031968"/>
            <a:ext cx="5537168" cy="3534823"/>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難しさ</a:t>
            </a:r>
          </a:p>
          <a:p xmlns:a="http://schemas.openxmlformats.org/drawingml/2006/main">
            <a:pPr algn="l">
              <a:defRPr sz="2400">
                <a:solidFill>
                  <a:srgbClr val="000000"/>
                </a:solidFill>
                <a:latin typeface="Helvetica Neue"/>
                <a:ea typeface="Helvetica Neue"/>
                <a:cs typeface="Helvetica Neue"/>
              </a:defRPr>
            </a:pPr>
            <a:r>
              <a:t>仕様確定・納品責任・
契約管理が必要</a:t>
            </a:r>
          </a:p>
        </p:txBody>
      </p:sp>
    </p:spTree>
    <p:extLst>
      <p:ext uri="{BB962C8B-B14F-4D97-AF65-F5344CB8AC3E}">
        <p14:creationId xmlns:p14="http://schemas.microsoft.com/office/powerpoint/2010/main" val="148797974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3" name="Google-Shape-532-p58-2">
            <a:extLst xmlns:a="http://schemas.openxmlformats.org/drawingml/2006/main">
              <a:ext uri="{FF2B5EF4-FFF2-40B4-BE49-F238E27FC236}">
                <a16:creationId xmlns:a16="http://schemas.microsoft.com/office/drawing/2014/main" id="{B8537D23-5F82-438E-8A87-935684182C0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06</a:t>
            </a:r>
          </a:p>
        </p:txBody>
      </p:sp>
      <p:sp>
        <p:nvSpPr>
          <p:cNvPr id="2" name="Google-Shape-533-p58-3">
            <a:extLst xmlns:a="http://schemas.openxmlformats.org/drawingml/2006/main">
              <a:ext uri="{FF2B5EF4-FFF2-40B4-BE49-F238E27FC236}">
                <a16:creationId xmlns:a16="http://schemas.microsoft.com/office/drawing/2014/main" id="{A7EC0A07-C1A5-47FC-98C5-0D51B2BDB29D}"/>
              </a:ext>
            </a:extLst>
          </p:cNvPr>
          <p:cNvSpPr>
            <a:spLocks xmlns:a="http://schemas.openxmlformats.org/drawingml/2006/main" noGrp="1"/>
          </p:cNvSpPr>
          <p:nvPr/>
        </p:nvSpPr>
        <p:spPr>
          <a:xfrm xmlns:a="http://schemas.openxmlformats.org/drawingml/2006/main">
            <a:off x="393668" y="344519"/>
            <a:ext cx="11404568" cy="1283018"/>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個人開発は、リターンも不確実性も最大</a:t>
            </a:r>
          </a:p>
        </p:txBody>
      </p:sp>
      <p:sp>
        <p:nvSpPr>
          <p:cNvPr id="3" name="Rounded-Rectangle-9-4">
            <a:extLst xmlns:a="http://schemas.openxmlformats.org/drawingml/2006/main">
              <a:ext uri="{FF2B5EF4-FFF2-40B4-BE49-F238E27FC236}">
                <a16:creationId xmlns:a16="http://schemas.microsoft.com/office/drawing/2014/main" id="{9770CC18-4EFA-4C61-A393-1EAF9F5FC0E2}"/>
              </a:ext>
            </a:extLst>
          </p:cNvPr>
          <p:cNvSpPr>
            <a:spLocks xmlns:a="http://schemas.openxmlformats.org/drawingml/2006/main" noGrp="1"/>
          </p:cNvSpPr>
          <p:nvPr/>
        </p:nvSpPr>
        <p:spPr>
          <a:xfrm xmlns:a="http://schemas.openxmlformats.org/drawingml/2006/main">
            <a:off x="4308920"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4" name="Rounded-Rectangle-10-5">
            <a:extLst xmlns:a="http://schemas.openxmlformats.org/drawingml/2006/main">
              <a:ext uri="{FF2B5EF4-FFF2-40B4-BE49-F238E27FC236}">
                <a16:creationId xmlns:a16="http://schemas.microsoft.com/office/drawing/2014/main" id="{A00A40B5-0C61-4266-BD4A-6B3A8ED35F97}"/>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5" name="Content-Placeholder-9-6">
            <a:extLst xmlns:a="http://schemas.openxmlformats.org/drawingml/2006/main">
              <a:ext uri="{FF2B5EF4-FFF2-40B4-BE49-F238E27FC236}">
                <a16:creationId xmlns:a16="http://schemas.microsoft.com/office/drawing/2014/main" id="{4E337819-2F1E-46B9-B38F-68CD1B328150}"/>
              </a:ext>
            </a:extLst>
          </p:cNvPr>
          <p:cNvSpPr>
            <a:spLocks xmlns:a="http://schemas.openxmlformats.org/drawingml/2006/main" noGrp="1"/>
          </p:cNvSpPr>
          <p:nvPr/>
        </p:nvSpPr>
        <p:spPr>
          <a:xfrm xmlns:a="http://schemas.openxmlformats.org/drawingml/2006/main">
            <a:off x="4621816"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上振れ</a:t>
            </a:r>
          </a:p>
          <a:p xmlns:a="http://schemas.openxmlformats.org/drawingml/2006/main">
            <a:pPr algn="l">
              <a:defRPr sz="2400">
                <a:solidFill>
                  <a:srgbClr val="000000"/>
                </a:solidFill>
                <a:latin typeface="Helvetica Neue"/>
                <a:ea typeface="Helvetica Neue"/>
                <a:cs typeface="Helvetica Neue"/>
              </a:defRPr>
            </a:pPr>
            <a:r>
              <a:t>最大</a:t>
            </a:r>
          </a:p>
        </p:txBody>
      </p:sp>
      <p:sp>
        <p:nvSpPr>
          <p:cNvPr id="6" name="Content-Placeholder-10-7">
            <a:extLst xmlns:a="http://schemas.openxmlformats.org/drawingml/2006/main">
              <a:ext uri="{FF2B5EF4-FFF2-40B4-BE49-F238E27FC236}">
                <a16:creationId xmlns:a16="http://schemas.microsoft.com/office/drawing/2014/main" id="{852793A1-BDDD-4AEF-A92B-9D0AC231814C}"/>
              </a:ext>
            </a:extLst>
          </p:cNvPr>
          <p:cNvSpPr>
            <a:spLocks xmlns:a="http://schemas.openxmlformats.org/drawingml/2006/main" noGrp="1"/>
          </p:cNvSpPr>
          <p:nvPr/>
        </p:nvSpPr>
        <p:spPr>
          <a:xfrm xmlns:a="http://schemas.openxmlformats.org/drawingml/2006/main">
            <a:off x="8536115"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不確実性</a:t>
            </a:r>
          </a:p>
          <a:p xmlns:a="http://schemas.openxmlformats.org/drawingml/2006/main">
            <a:pPr algn="l">
              <a:defRPr sz="2400">
                <a:solidFill>
                  <a:srgbClr val="000000"/>
                </a:solidFill>
                <a:latin typeface="Helvetica Neue"/>
                <a:ea typeface="Helvetica Neue"/>
                <a:cs typeface="Helvetica Neue"/>
              </a:defRPr>
            </a:pPr>
            <a:r>
              <a:t>最大</a:t>
            </a:r>
          </a:p>
        </p:txBody>
      </p:sp>
      <p:sp>
        <p:nvSpPr>
          <p:cNvPr id="7" name="Google-Shape-340-p61-8">
            <a:extLst xmlns:a="http://schemas.openxmlformats.org/drawingml/2006/main">
              <a:ext uri="{FF2B5EF4-FFF2-40B4-BE49-F238E27FC236}">
                <a16:creationId xmlns:a16="http://schemas.microsoft.com/office/drawing/2014/main" id="{3DAED8C3-10B2-4394-8272-6B4DF2F5E8AD}"/>
              </a:ext>
            </a:extLst>
          </p:cNvPr>
          <p:cNvSpPr>
            <a:spLocks xmlns:a="http://schemas.openxmlformats.org/drawingml/2006/main" noGrp="1"/>
          </p:cNvSpPr>
          <p:nvPr/>
        </p:nvSpPr>
        <p:spPr>
          <a:xfrm xmlns:a="http://schemas.openxmlformats.org/drawingml/2006/main">
            <a:off x="4627626"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8" name="Google-Shape-340-p61-9">
            <a:extLst xmlns:a="http://schemas.openxmlformats.org/drawingml/2006/main">
              <a:ext uri="{FF2B5EF4-FFF2-40B4-BE49-F238E27FC236}">
                <a16:creationId xmlns:a16="http://schemas.microsoft.com/office/drawing/2014/main" id="{0B64DF93-478B-4527-BF0D-A6368C35A8CB}"/>
              </a:ext>
            </a:extLst>
          </p:cNvPr>
          <p:cNvSpPr>
            <a:spLocks xmlns:a="http://schemas.openxmlformats.org/drawingml/2006/main" noGrp="1"/>
          </p:cNvSpPr>
          <p:nvPr/>
        </p:nvSpPr>
        <p:spPr>
          <a:xfrm xmlns:a="http://schemas.openxmlformats.org/drawingml/2006/main">
            <a:off x="8533257"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9" name="Rounded-Rectangle-5-10">
            <a:extLst xmlns:a="http://schemas.openxmlformats.org/drawingml/2006/main">
              <a:ext uri="{FF2B5EF4-FFF2-40B4-BE49-F238E27FC236}">
                <a16:creationId xmlns:a16="http://schemas.microsoft.com/office/drawing/2014/main" id="{5774F9E4-A3E6-4CB7-9A42-F566729A4CC9}"/>
              </a:ext>
            </a:extLst>
          </p:cNvPr>
          <p:cNvSpPr>
            <a:spLocks xmlns:a="http://schemas.openxmlformats.org/drawingml/2006/main" noGrp="1"/>
          </p:cNvSpPr>
          <p:nvPr/>
        </p:nvSpPr>
        <p:spPr>
          <a:xfrm xmlns:a="http://schemas.openxmlformats.org/drawingml/2006/main">
            <a:off x="388334"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10" name="Content-Placeholder-9-11">
            <a:extLst xmlns:a="http://schemas.openxmlformats.org/drawingml/2006/main">
              <a:ext uri="{FF2B5EF4-FFF2-40B4-BE49-F238E27FC236}">
                <a16:creationId xmlns:a16="http://schemas.microsoft.com/office/drawing/2014/main" id="{AD6A2CE9-D864-46E7-B285-211336CEDB27}"/>
              </a:ext>
            </a:extLst>
          </p:cNvPr>
          <p:cNvSpPr>
            <a:spLocks xmlns:a="http://schemas.openxmlformats.org/drawingml/2006/main" noGrp="1"/>
          </p:cNvSpPr>
          <p:nvPr/>
        </p:nvSpPr>
        <p:spPr>
          <a:xfrm xmlns:a="http://schemas.openxmlformats.org/drawingml/2006/main">
            <a:off x="701135"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自由度</a:t>
            </a:r>
          </a:p>
          <a:p xmlns:a="http://schemas.openxmlformats.org/drawingml/2006/main">
            <a:pPr algn="l">
              <a:defRPr sz="2400">
                <a:solidFill>
                  <a:srgbClr val="000000"/>
                </a:solidFill>
                <a:latin typeface="Helvetica Neue"/>
                <a:ea typeface="Helvetica Neue"/>
                <a:cs typeface="Helvetica Neue"/>
              </a:defRPr>
            </a:pPr>
            <a:r>
              <a:t>最大</a:t>
            </a:r>
          </a:p>
        </p:txBody>
      </p:sp>
      <p:sp>
        <p:nvSpPr>
          <p:cNvPr id="11" name="Google-Shape-340-p61-12">
            <a:extLst xmlns:a="http://schemas.openxmlformats.org/drawingml/2006/main">
              <a:ext uri="{FF2B5EF4-FFF2-40B4-BE49-F238E27FC236}">
                <a16:creationId xmlns:a16="http://schemas.microsoft.com/office/drawing/2014/main" id="{884E9B5C-0E7D-46E3-8C62-17592754800E}"/>
              </a:ext>
            </a:extLst>
          </p:cNvPr>
          <p:cNvSpPr>
            <a:spLocks xmlns:a="http://schemas.openxmlformats.org/drawingml/2006/main" noGrp="1"/>
          </p:cNvSpPr>
          <p:nvPr/>
        </p:nvSpPr>
        <p:spPr>
          <a:xfrm xmlns:a="http://schemas.openxmlformats.org/drawingml/2006/main">
            <a:off x="707041"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2" name="Content-Placeholder-15-13">
            <a:extLst xmlns:a="http://schemas.openxmlformats.org/drawingml/2006/main">
              <a:ext uri="{FF2B5EF4-FFF2-40B4-BE49-F238E27FC236}">
                <a16:creationId xmlns:a16="http://schemas.microsoft.com/office/drawing/2014/main" id="{B46E5AB9-F2CE-4E36-8E8E-CA04A0B67B19}"/>
              </a:ext>
            </a:extLst>
          </p:cNvPr>
          <p:cNvSpPr>
            <a:spLocks xmlns:a="http://schemas.openxmlformats.org/drawingml/2006/main" noGrp="1"/>
          </p:cNvSpPr>
          <p:nvPr/>
        </p:nvSpPr>
        <p:spPr>
          <a:xfrm xmlns:a="http://schemas.openxmlformats.org/drawingml/2006/main">
            <a:off x="393668" y="1450562"/>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個人開発</a:t>
            </a:r>
          </a:p>
          <a:p xmlns:a="http://schemas.openxmlformats.org/drawingml/2006/main">
            <a:pPr algn="l">
              <a:defRPr sz="1600">
                <a:solidFill>
                  <a:srgbClr val="000000"/>
                </a:solidFill>
                <a:latin typeface="Helvetica Neue"/>
                <a:ea typeface="Helvetica Neue"/>
                <a:cs typeface="Helvetica Neue"/>
              </a:defRPr>
            </a:pPr>
            <a:r>
              <a:t>ゲームやWebサービスを作り、広告や課金で収益化する。</a:t>
            </a:r>
          </a:p>
          <a:p xmlns:a="http://schemas.openxmlformats.org/drawingml/2006/main">
            <a:pPr algn="l">
              <a:defRPr sz="1600">
                <a:solidFill>
                  <a:srgbClr val="000000"/>
                </a:solidFill>
                <a:latin typeface="Helvetica Neue"/>
                <a:ea typeface="Helvetica Neue"/>
                <a:cs typeface="Helvetica Neue"/>
              </a:defRPr>
            </a:pPr>
            <a:r>
              <a:t>開発だけでなく、事業全体を動かす仕事。</a:t>
            </a:r>
          </a:p>
        </p:txBody>
      </p:sp>
    </p:spTree>
    <p:extLst>
      <p:ext uri="{BB962C8B-B14F-4D97-AF65-F5344CB8AC3E}">
        <p14:creationId xmlns:p14="http://schemas.microsoft.com/office/powerpoint/2010/main" val="186569864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41CFC05B-74CD-4E64-883C-88DE688CA622}"/>
              </a:ext>
            </a:extLst>
          </p:cNvPr>
          <p:cNvSpPr>
            <a:spLocks xmlns:a="http://schemas.openxmlformats.org/drawingml/2006/main" noGrp="1"/>
          </p:cNvSpPr>
          <p:nvPr/>
        </p:nvSpPr>
        <p:spPr>
          <a:xfrm xmlns:a="http://schemas.openxmlformats.org/drawingml/2006/main">
            <a:off x="393668" y="2579942"/>
            <a:ext cx="9448800" cy="3624263"/>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初手は
業務委託</a:t>
            </a:r>
          </a:p>
        </p:txBody>
      </p:sp>
      <p:sp>
        <p:nvSpPr>
          <p:cNvPr id="2" name="Subtitle-4-2">
            <a:extLst xmlns:a="http://schemas.openxmlformats.org/drawingml/2006/main">
              <a:ext uri="{FF2B5EF4-FFF2-40B4-BE49-F238E27FC236}">
                <a16:creationId xmlns:a16="http://schemas.microsoft.com/office/drawing/2014/main" id="{11AA6840-44F5-462B-9CB4-C31893F2D4A8}"/>
              </a:ext>
            </a:extLst>
          </p:cNvPr>
          <p:cNvSpPr>
            <a:spLocks xmlns:a="http://schemas.openxmlformats.org/drawingml/2006/main" noGrp="1"/>
          </p:cNvSpPr>
          <p:nvPr/>
        </p:nvSpPr>
        <p:spPr>
          <a:xfrm xmlns:a="http://schemas.openxmlformats.org/drawingml/2006/main">
            <a:off x="393668" y="392240"/>
            <a:ext cx="6157817"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最初の選択</a:t>
            </a:r>
          </a:p>
        </p:txBody>
      </p:sp>
      <p:sp>
        <p:nvSpPr>
          <p:cNvPr id="3" name="Subtitle-4-3">
            <a:extLst xmlns:a="http://schemas.openxmlformats.org/drawingml/2006/main">
              <a:ext uri="{FF2B5EF4-FFF2-40B4-BE49-F238E27FC236}">
                <a16:creationId xmlns:a16="http://schemas.microsoft.com/office/drawing/2014/main" id="{56977C04-E91A-4672-94F7-C771ECF99086}"/>
              </a:ext>
            </a:extLst>
          </p:cNvPr>
          <p:cNvSpPr>
            <a:spLocks xmlns:a="http://schemas.openxmlformats.org/drawingml/2006/main" noGrp="1"/>
          </p:cNvSpPr>
          <p:nvPr/>
        </p:nvSpPr>
        <p:spPr>
          <a:xfrm xmlns:a="http://schemas.openxmlformats.org/drawingml/2006/main">
            <a:off x="7886700" y="392240"/>
            <a:ext cx="39116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結論</a:t>
            </a:r>
          </a:p>
        </p:txBody>
      </p:sp>
    </p:spTree>
    <p:extLst>
      <p:ext uri="{BB962C8B-B14F-4D97-AF65-F5344CB8AC3E}">
        <p14:creationId xmlns:p14="http://schemas.microsoft.com/office/powerpoint/2010/main" val="123934844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9" name="Google-Shape-532-p58-2">
            <a:extLst xmlns:a="http://schemas.openxmlformats.org/drawingml/2006/main">
              <a:ext uri="{FF2B5EF4-FFF2-40B4-BE49-F238E27FC236}">
                <a16:creationId xmlns:a16="http://schemas.microsoft.com/office/drawing/2014/main" id="{0E487993-65FD-4839-9640-45EC7C4B7AE7}"/>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08</a:t>
            </a:r>
          </a:p>
        </p:txBody>
      </p:sp>
      <p:sp>
        <p:nvSpPr>
          <p:cNvPr id="2" name="Google-Shape-533-p58-3">
            <a:extLst xmlns:a="http://schemas.openxmlformats.org/drawingml/2006/main">
              <a:ext uri="{FF2B5EF4-FFF2-40B4-BE49-F238E27FC236}">
                <a16:creationId xmlns:a16="http://schemas.microsoft.com/office/drawing/2014/main" id="{40041B9D-FC8D-49C7-B612-2A2B0EEDEDC3}"/>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業務委託から始める3つの理由</a:t>
            </a:r>
          </a:p>
        </p:txBody>
      </p:sp>
      <p:sp>
        <p:nvSpPr>
          <p:cNvPr id="3" name="Google-Shape-558-p61-4">
            <a:extLst xmlns:a="http://schemas.openxmlformats.org/drawingml/2006/main">
              <a:ext uri="{FF2B5EF4-FFF2-40B4-BE49-F238E27FC236}">
                <a16:creationId xmlns:a16="http://schemas.microsoft.com/office/drawing/2014/main" id="{1D92B05B-3F19-4E4F-8FB0-837F223AAD07}"/>
              </a:ext>
            </a:extLst>
          </p:cNvPr>
          <p:cNvSpPr>
            <a:spLocks xmlns:a="http://schemas.openxmlformats.org/drawingml/2006/main" noGrp="1"/>
          </p:cNvSpPr>
          <p:nvPr/>
        </p:nvSpPr>
        <p:spPr>
          <a:xfrm xmlns:a="http://schemas.openxmlformats.org/drawingml/2006/main">
            <a:off x="393668" y="4013168"/>
            <a:ext cx="3568732" cy="1981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案件供給が
安定している</a:t>
            </a:r>
          </a:p>
        </p:txBody>
      </p:sp>
      <p:sp>
        <p:nvSpPr>
          <p:cNvPr id="4" name="Google-Shape-559-p61-5">
            <a:extLst xmlns:a="http://schemas.openxmlformats.org/drawingml/2006/main">
              <a:ext uri="{FF2B5EF4-FFF2-40B4-BE49-F238E27FC236}">
                <a16:creationId xmlns:a16="http://schemas.microsoft.com/office/drawing/2014/main" id="{A0516263-0A1D-471F-9DF6-A058B5450BEA}"/>
              </a:ext>
            </a:extLst>
          </p:cNvPr>
          <p:cNvSpPr>
            <a:spLocks xmlns:a="http://schemas.openxmlformats.org/drawingml/2006/main" noGrp="1"/>
          </p:cNvSpPr>
          <p:nvPr/>
        </p:nvSpPr>
        <p:spPr>
          <a:xfrm xmlns:a="http://schemas.openxmlformats.org/drawingml/2006/main">
            <a:off x="4317968" y="4013168"/>
            <a:ext cx="3568732" cy="1981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稼働リスクを
管理しやすい</a:t>
            </a:r>
          </a:p>
        </p:txBody>
      </p:sp>
      <p:sp>
        <p:nvSpPr>
          <p:cNvPr id="5" name="Google-Shape-560-p61-6">
            <a:extLst xmlns:a="http://schemas.openxmlformats.org/drawingml/2006/main">
              <a:ext uri="{FF2B5EF4-FFF2-40B4-BE49-F238E27FC236}">
                <a16:creationId xmlns:a16="http://schemas.microsoft.com/office/drawing/2014/main" id="{A36A733A-9B12-47EF-911F-B2F2EB149508}"/>
              </a:ext>
            </a:extLst>
          </p:cNvPr>
          <p:cNvSpPr>
            <a:spLocks xmlns:a="http://schemas.openxmlformats.org/drawingml/2006/main" noGrp="1"/>
          </p:cNvSpPr>
          <p:nvPr/>
        </p:nvSpPr>
        <p:spPr>
          <a:xfrm xmlns:a="http://schemas.openxmlformats.org/drawingml/2006/main">
            <a:off x="8232267" y="4013168"/>
            <a:ext cx="3568732" cy="1981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信用と人脈を
作りやすい</a:t>
            </a:r>
          </a:p>
        </p:txBody>
      </p:sp>
      <p:sp>
        <p:nvSpPr>
          <p:cNvPr id="6" name="Google-Shape-561-p61-7">
            <a:extLst xmlns:a="http://schemas.openxmlformats.org/drawingml/2006/main">
              <a:ext uri="{FF2B5EF4-FFF2-40B4-BE49-F238E27FC236}">
                <a16:creationId xmlns:a16="http://schemas.microsoft.com/office/drawing/2014/main" id="{53B04EC6-9D32-4B5D-8B35-29CBE6636535}"/>
              </a:ext>
            </a:extLst>
          </p:cNvPr>
          <p:cNvSpPr>
            <a:spLocks xmlns:a="http://schemas.openxmlformats.org/drawingml/2006/main" noGrp="1"/>
          </p:cNvSpPr>
          <p:nvPr/>
        </p:nvSpPr>
        <p:spPr>
          <a:xfrm xmlns:a="http://schemas.openxmlformats.org/drawingml/2006/main">
            <a:off x="4279868" y="3382328"/>
            <a:ext cx="315563" cy="353854"/>
          </a:xfrm>
          <a:custGeom xmlns:a="http://schemas.openxmlformats.org/drawingml/2006/main">
            <a:pathLst>
              <a:path w="192747900" h="191595375">
                <a:moveTo>
                  <a:pt x="107661075" y="24707850"/>
                </a:moveTo>
                <a:lnTo>
                  <a:pt x="20716875" y="114138075"/>
                </a:lnTo>
                <a:lnTo>
                  <a:pt x="86039325" y="114138075"/>
                </a:lnTo>
                <a:cubicBezTo>
                  <a:pt x="89192100" y="114138075"/>
                  <a:pt x="92182950" y="115423950"/>
                  <a:pt x="94135575" y="117614700"/>
                </a:cubicBezTo>
                <a:cubicBezTo>
                  <a:pt x="96097725" y="119814975"/>
                  <a:pt x="96821625" y="122682000"/>
                  <a:pt x="96097725" y="125406150"/>
                </a:cubicBezTo>
                <a:lnTo>
                  <a:pt x="85086825" y="166897050"/>
                </a:lnTo>
                <a:lnTo>
                  <a:pt x="172031025" y="77466825"/>
                </a:lnTo>
                <a:lnTo>
                  <a:pt x="106708575" y="77466825"/>
                </a:lnTo>
                <a:cubicBezTo>
                  <a:pt x="103555800" y="77466825"/>
                  <a:pt x="100564950" y="76190475"/>
                  <a:pt x="98612325" y="73990200"/>
                </a:cubicBezTo>
                <a:cubicBezTo>
                  <a:pt x="96650175" y="71789925"/>
                  <a:pt x="95926275" y="68922900"/>
                  <a:pt x="96650175" y="66198750"/>
                </a:cubicBezTo>
                <a:lnTo>
                  <a:pt x="107661075" y="24707850"/>
                </a:lnTo>
                <a:close/>
                <a:moveTo>
                  <a:pt x="98888550" y="5648325"/>
                </a:moveTo>
                <a:cubicBezTo>
                  <a:pt x="111242475" y="-7067550"/>
                  <a:pt x="134540625" y="3457575"/>
                  <a:pt x="130206750" y="19792950"/>
                </a:cubicBezTo>
                <a:lnTo>
                  <a:pt x="119767350" y="59131200"/>
                </a:lnTo>
                <a:lnTo>
                  <a:pt x="172031025" y="59131200"/>
                </a:lnTo>
                <a:cubicBezTo>
                  <a:pt x="189718950" y="59131200"/>
                  <a:pt x="199243950" y="77552550"/>
                  <a:pt x="187690125" y="89439750"/>
                </a:cubicBezTo>
                <a:lnTo>
                  <a:pt x="93859350" y="185956575"/>
                </a:lnTo>
                <a:cubicBezTo>
                  <a:pt x="81505425" y="198672450"/>
                  <a:pt x="58207275" y="188147325"/>
                  <a:pt x="62541150" y="171811950"/>
                </a:cubicBezTo>
                <a:lnTo>
                  <a:pt x="72980550" y="132473700"/>
                </a:lnTo>
                <a:lnTo>
                  <a:pt x="20716875" y="132473700"/>
                </a:lnTo>
                <a:cubicBezTo>
                  <a:pt x="3028950" y="132473700"/>
                  <a:pt x="-6496050" y="114052350"/>
                  <a:pt x="5057775" y="102165150"/>
                </a:cubicBezTo>
                <a:lnTo>
                  <a:pt x="98888550" y="5648325"/>
                </a:lnTo>
                <a:close/>
              </a:path>
            </a:pathLst>
          </a:custGeom>
          <a:solidFill xmlns:a="http://schemas.openxmlformats.org/drawingml/2006/main">
            <a:srgbClr val="000000"/>
          </a:solidFill>
        </p:spPr>
      </p:sp>
      <p:sp>
        <p:nvSpPr>
          <p:cNvPr id="7" name="Google-Shape-562-p61-8">
            <a:extLst xmlns:a="http://schemas.openxmlformats.org/drawingml/2006/main">
              <a:ext uri="{FF2B5EF4-FFF2-40B4-BE49-F238E27FC236}">
                <a16:creationId xmlns:a16="http://schemas.microsoft.com/office/drawing/2014/main" id="{87F99FD9-5133-448C-8475-6C71845AE1C0}"/>
              </a:ext>
            </a:extLst>
          </p:cNvPr>
          <p:cNvSpPr>
            <a:spLocks xmlns:a="http://schemas.openxmlformats.org/drawingml/2006/main" noGrp="1"/>
          </p:cNvSpPr>
          <p:nvPr/>
        </p:nvSpPr>
        <p:spPr>
          <a:xfrm xmlns:a="http://schemas.openxmlformats.org/drawingml/2006/main">
            <a:off x="401384" y="3378232"/>
            <a:ext cx="327089" cy="362045"/>
          </a:xfrm>
          <a:custGeom xmlns:a="http://schemas.openxmlformats.org/drawingml/2006/main">
            <a:pathLst>
              <a:path w="205740000" h="203196825">
                <a:moveTo>
                  <a:pt x="108194475" y="20288250"/>
                </a:moveTo>
                <a:cubicBezTo>
                  <a:pt x="104908350" y="18583275"/>
                  <a:pt x="100850700" y="18583275"/>
                  <a:pt x="97545525" y="20288250"/>
                </a:cubicBezTo>
                <a:lnTo>
                  <a:pt x="30956250" y="54597300"/>
                </a:lnTo>
                <a:lnTo>
                  <a:pt x="103031925" y="90773250"/>
                </a:lnTo>
                <a:lnTo>
                  <a:pt x="177098325" y="55778400"/>
                </a:lnTo>
                <a:lnTo>
                  <a:pt x="108194475" y="20288250"/>
                </a:lnTo>
                <a:close/>
                <a:moveTo>
                  <a:pt x="184442100" y="73809225"/>
                </a:moveTo>
                <a:lnTo>
                  <a:pt x="113518950" y="107318175"/>
                </a:lnTo>
                <a:lnTo>
                  <a:pt x="113518950" y="180174900"/>
                </a:lnTo>
                <a:lnTo>
                  <a:pt x="179117625" y="146370675"/>
                </a:lnTo>
                <a:cubicBezTo>
                  <a:pt x="182422800" y="144675225"/>
                  <a:pt x="184442100" y="141541500"/>
                  <a:pt x="184442100" y="138141075"/>
                </a:cubicBezTo>
                <a:lnTo>
                  <a:pt x="184442100" y="73809225"/>
                </a:lnTo>
                <a:close/>
                <a:moveTo>
                  <a:pt x="92221050" y="180174900"/>
                </a:moveTo>
                <a:lnTo>
                  <a:pt x="92221050" y="107156250"/>
                </a:lnTo>
                <a:lnTo>
                  <a:pt x="21297900" y="71561325"/>
                </a:lnTo>
                <a:lnTo>
                  <a:pt x="21297900" y="138141075"/>
                </a:lnTo>
                <a:cubicBezTo>
                  <a:pt x="21297900" y="141541500"/>
                  <a:pt x="23317200" y="144675225"/>
                  <a:pt x="26622375" y="146370675"/>
                </a:cubicBezTo>
                <a:lnTo>
                  <a:pt x="92221050" y="180174900"/>
                </a:lnTo>
                <a:close/>
                <a:moveTo>
                  <a:pt x="86896575" y="3819525"/>
                </a:moveTo>
                <a:cubicBezTo>
                  <a:pt x="96774000" y="-1266825"/>
                  <a:pt x="108966000" y="-1266825"/>
                  <a:pt x="118843425" y="3819525"/>
                </a:cubicBezTo>
                <a:lnTo>
                  <a:pt x="189766575" y="40366950"/>
                </a:lnTo>
                <a:cubicBezTo>
                  <a:pt x="199663050" y="45462825"/>
                  <a:pt x="205740000" y="54873525"/>
                  <a:pt x="205740000" y="65055750"/>
                </a:cubicBezTo>
                <a:lnTo>
                  <a:pt x="205740000" y="138141075"/>
                </a:lnTo>
                <a:cubicBezTo>
                  <a:pt x="205740000" y="148323300"/>
                  <a:pt x="199663050" y="157743525"/>
                  <a:pt x="189766575" y="162839400"/>
                </a:cubicBezTo>
                <a:lnTo>
                  <a:pt x="118843425" y="199377300"/>
                </a:lnTo>
                <a:cubicBezTo>
                  <a:pt x="108966000" y="204473175"/>
                  <a:pt x="96774000" y="204473175"/>
                  <a:pt x="86896575" y="199377300"/>
                </a:cubicBezTo>
                <a:lnTo>
                  <a:pt x="15973425" y="162839400"/>
                </a:lnTo>
                <a:cubicBezTo>
                  <a:pt x="6096000" y="157743525"/>
                  <a:pt x="0" y="148323300"/>
                  <a:pt x="0" y="138141075"/>
                </a:cubicBezTo>
                <a:lnTo>
                  <a:pt x="0" y="65055750"/>
                </a:lnTo>
                <a:cubicBezTo>
                  <a:pt x="0" y="54873525"/>
                  <a:pt x="6096000" y="45462825"/>
                  <a:pt x="15973425" y="40366950"/>
                </a:cubicBezTo>
                <a:lnTo>
                  <a:pt x="86896575" y="3819525"/>
                </a:lnTo>
                <a:close/>
              </a:path>
            </a:pathLst>
          </a:custGeom>
          <a:solidFill xmlns:a="http://schemas.openxmlformats.org/drawingml/2006/main">
            <a:srgbClr val="000000"/>
          </a:solidFill>
        </p:spPr>
      </p:sp>
      <p:sp>
        <p:nvSpPr>
          <p:cNvPr id="8" name="Google-Shape-563-p61-9">
            <a:extLst xmlns:a="http://schemas.openxmlformats.org/drawingml/2006/main">
              <a:ext uri="{FF2B5EF4-FFF2-40B4-BE49-F238E27FC236}">
                <a16:creationId xmlns:a16="http://schemas.microsoft.com/office/drawing/2014/main" id="{A8B7EE27-FD19-4E76-AE7D-F274BAAC9619}"/>
              </a:ext>
            </a:extLst>
          </p:cNvPr>
          <p:cNvSpPr>
            <a:spLocks xmlns:a="http://schemas.openxmlformats.org/drawingml/2006/main" noGrp="1"/>
          </p:cNvSpPr>
          <p:nvPr/>
        </p:nvSpPr>
        <p:spPr>
          <a:xfrm xmlns:a="http://schemas.openxmlformats.org/drawingml/2006/main">
            <a:off x="8231600" y="3406807"/>
            <a:ext cx="338614" cy="270891"/>
          </a:xfrm>
          <a:custGeom xmlns:a="http://schemas.openxmlformats.org/drawingml/2006/main">
            <a:pathLst>
              <a:path w="205740000" h="205740000">
                <a:moveTo>
                  <a:pt x="59245500" y="0"/>
                </a:moveTo>
                <a:lnTo>
                  <a:pt x="146494500" y="0"/>
                </a:lnTo>
                <a:cubicBezTo>
                  <a:pt x="154781250" y="0"/>
                  <a:pt x="161620200" y="0"/>
                  <a:pt x="167182800" y="561975"/>
                </a:cubicBezTo>
                <a:cubicBezTo>
                  <a:pt x="172964475" y="1162050"/>
                  <a:pt x="178279425" y="2428875"/>
                  <a:pt x="183270525" y="5610225"/>
                </a:cubicBezTo>
                <a:cubicBezTo>
                  <a:pt x="191023875" y="10534650"/>
                  <a:pt x="197310375" y="18402300"/>
                  <a:pt x="201253725" y="28079700"/>
                </a:cubicBezTo>
                <a:cubicBezTo>
                  <a:pt x="203796900" y="34318575"/>
                  <a:pt x="204816075" y="40967025"/>
                  <a:pt x="205282800" y="48196500"/>
                </a:cubicBezTo>
                <a:cubicBezTo>
                  <a:pt x="205740000" y="55149750"/>
                  <a:pt x="205740000" y="63703200"/>
                  <a:pt x="205740000" y="74056875"/>
                </a:cubicBezTo>
                <a:lnTo>
                  <a:pt x="205740000" y="131683125"/>
                </a:lnTo>
                <a:cubicBezTo>
                  <a:pt x="205740000" y="142036800"/>
                  <a:pt x="205740000" y="150590250"/>
                  <a:pt x="205282800" y="157543500"/>
                </a:cubicBezTo>
                <a:cubicBezTo>
                  <a:pt x="204816075" y="164772975"/>
                  <a:pt x="203796900" y="171421425"/>
                  <a:pt x="201253725" y="177660300"/>
                </a:cubicBezTo>
                <a:cubicBezTo>
                  <a:pt x="197310375" y="187337700"/>
                  <a:pt x="191023875" y="195205350"/>
                  <a:pt x="183270525" y="200129775"/>
                </a:cubicBezTo>
                <a:cubicBezTo>
                  <a:pt x="178279425" y="203311125"/>
                  <a:pt x="172964475" y="204577950"/>
                  <a:pt x="167182800" y="205178025"/>
                </a:cubicBezTo>
                <a:cubicBezTo>
                  <a:pt x="161620200" y="205740000"/>
                  <a:pt x="154781250" y="205740000"/>
                  <a:pt x="146494500" y="205740000"/>
                </a:cubicBezTo>
                <a:lnTo>
                  <a:pt x="59245500" y="205740000"/>
                </a:lnTo>
                <a:cubicBezTo>
                  <a:pt x="50958750" y="205740000"/>
                  <a:pt x="44119800" y="205740000"/>
                  <a:pt x="38557200" y="205178025"/>
                </a:cubicBezTo>
                <a:cubicBezTo>
                  <a:pt x="32775525" y="204577950"/>
                  <a:pt x="27460575" y="203311125"/>
                  <a:pt x="22469475" y="200129775"/>
                </a:cubicBezTo>
                <a:cubicBezTo>
                  <a:pt x="14716125" y="195205350"/>
                  <a:pt x="8429625" y="187337700"/>
                  <a:pt x="4486275" y="177660300"/>
                </a:cubicBezTo>
                <a:cubicBezTo>
                  <a:pt x="1943100" y="171421425"/>
                  <a:pt x="923925" y="164772975"/>
                  <a:pt x="457200" y="157543500"/>
                </a:cubicBezTo>
                <a:cubicBezTo>
                  <a:pt x="0" y="150590250"/>
                  <a:pt x="0" y="142036800"/>
                  <a:pt x="0" y="131683125"/>
                </a:cubicBezTo>
                <a:lnTo>
                  <a:pt x="0" y="74056875"/>
                </a:lnTo>
                <a:cubicBezTo>
                  <a:pt x="0" y="63703200"/>
                  <a:pt x="0" y="55149750"/>
                  <a:pt x="457200" y="48196500"/>
                </a:cubicBezTo>
                <a:cubicBezTo>
                  <a:pt x="923925" y="40967025"/>
                  <a:pt x="1943100" y="34318575"/>
                  <a:pt x="4486275" y="28079700"/>
                </a:cubicBezTo>
                <a:cubicBezTo>
                  <a:pt x="8429625" y="18402300"/>
                  <a:pt x="14716125" y="10534650"/>
                  <a:pt x="22469475" y="5610225"/>
                </a:cubicBezTo>
                <a:cubicBezTo>
                  <a:pt x="27460575" y="2428875"/>
                  <a:pt x="32775525" y="1162050"/>
                  <a:pt x="38557200" y="561975"/>
                </a:cubicBezTo>
                <a:cubicBezTo>
                  <a:pt x="44119800" y="0"/>
                  <a:pt x="50958750" y="0"/>
                  <a:pt x="59245500" y="0"/>
                </a:cubicBezTo>
                <a:close/>
                <a:moveTo>
                  <a:pt x="20574000" y="90011250"/>
                </a:moveTo>
                <a:lnTo>
                  <a:pt x="20574000" y="131159250"/>
                </a:lnTo>
                <a:cubicBezTo>
                  <a:pt x="20574000" y="142179675"/>
                  <a:pt x="20583525" y="149666325"/>
                  <a:pt x="20964525" y="155448000"/>
                </a:cubicBezTo>
                <a:cubicBezTo>
                  <a:pt x="21326475" y="161077275"/>
                  <a:pt x="21993225" y="163972875"/>
                  <a:pt x="22812375" y="165982650"/>
                </a:cubicBezTo>
                <a:cubicBezTo>
                  <a:pt x="24793575" y="170811825"/>
                  <a:pt x="27936825" y="174755175"/>
                  <a:pt x="31803975" y="177222150"/>
                </a:cubicBezTo>
                <a:cubicBezTo>
                  <a:pt x="33413700" y="178250850"/>
                  <a:pt x="35728275" y="179079525"/>
                  <a:pt x="40233600" y="179536725"/>
                </a:cubicBezTo>
                <a:cubicBezTo>
                  <a:pt x="44862750" y="180012975"/>
                  <a:pt x="50844450" y="180022500"/>
                  <a:pt x="59664600" y="180022500"/>
                </a:cubicBezTo>
                <a:lnTo>
                  <a:pt x="146075400" y="180022500"/>
                </a:lnTo>
                <a:cubicBezTo>
                  <a:pt x="154895550" y="180022500"/>
                  <a:pt x="160877250" y="180012975"/>
                  <a:pt x="165506400" y="179536725"/>
                </a:cubicBezTo>
                <a:cubicBezTo>
                  <a:pt x="170011725" y="179079525"/>
                  <a:pt x="172326300" y="178250850"/>
                  <a:pt x="173936025" y="177222150"/>
                </a:cubicBezTo>
                <a:cubicBezTo>
                  <a:pt x="177803175" y="174755175"/>
                  <a:pt x="180946425" y="170811825"/>
                  <a:pt x="182927625" y="165982650"/>
                </a:cubicBezTo>
                <a:cubicBezTo>
                  <a:pt x="183746775" y="163972875"/>
                  <a:pt x="184413525" y="161077275"/>
                  <a:pt x="184775475" y="155448000"/>
                </a:cubicBezTo>
                <a:cubicBezTo>
                  <a:pt x="185156475" y="149666325"/>
                  <a:pt x="185166000" y="142179675"/>
                  <a:pt x="185166000" y="131159250"/>
                </a:cubicBezTo>
                <a:lnTo>
                  <a:pt x="185166000" y="90011250"/>
                </a:lnTo>
                <a:lnTo>
                  <a:pt x="20574000" y="90011250"/>
                </a:lnTo>
                <a:close/>
                <a:moveTo>
                  <a:pt x="185146950" y="64293750"/>
                </a:moveTo>
                <a:cubicBezTo>
                  <a:pt x="185118375" y="58559700"/>
                  <a:pt x="185023125" y="54073425"/>
                  <a:pt x="184775475" y="50292000"/>
                </a:cubicBezTo>
                <a:cubicBezTo>
                  <a:pt x="184413525" y="44662725"/>
                  <a:pt x="183746775" y="41767125"/>
                  <a:pt x="182927625" y="39757350"/>
                </a:cubicBezTo>
                <a:cubicBezTo>
                  <a:pt x="180946425" y="34928175"/>
                  <a:pt x="177803175" y="30994350"/>
                  <a:pt x="173936025" y="28517850"/>
                </a:cubicBezTo>
                <a:cubicBezTo>
                  <a:pt x="172326300" y="27489150"/>
                  <a:pt x="170011725" y="26660475"/>
                  <a:pt x="165506400" y="26203275"/>
                </a:cubicBezTo>
                <a:cubicBezTo>
                  <a:pt x="160877250" y="25727025"/>
                  <a:pt x="154895550" y="25717500"/>
                  <a:pt x="146075400" y="25717500"/>
                </a:cubicBezTo>
                <a:lnTo>
                  <a:pt x="59664600" y="25717500"/>
                </a:lnTo>
                <a:cubicBezTo>
                  <a:pt x="50844450" y="25717500"/>
                  <a:pt x="44862750" y="25727025"/>
                  <a:pt x="40233600" y="26203275"/>
                </a:cubicBezTo>
                <a:cubicBezTo>
                  <a:pt x="35728275" y="26660475"/>
                  <a:pt x="33413700" y="27489150"/>
                  <a:pt x="31803975" y="28517850"/>
                </a:cubicBezTo>
                <a:cubicBezTo>
                  <a:pt x="27936825" y="30994350"/>
                  <a:pt x="24793575" y="34928175"/>
                  <a:pt x="22812375" y="39757350"/>
                </a:cubicBezTo>
                <a:cubicBezTo>
                  <a:pt x="21993225" y="41767125"/>
                  <a:pt x="21326475" y="44662725"/>
                  <a:pt x="20964525" y="50292000"/>
                </a:cubicBezTo>
                <a:cubicBezTo>
                  <a:pt x="20716875" y="54073425"/>
                  <a:pt x="20621625" y="58559700"/>
                  <a:pt x="20593050" y="64293750"/>
                </a:cubicBezTo>
                <a:lnTo>
                  <a:pt x="185146950" y="64293750"/>
                </a:lnTo>
                <a:close/>
                <a:moveTo>
                  <a:pt x="123444000" y="141446250"/>
                </a:moveTo>
                <a:cubicBezTo>
                  <a:pt x="123444000" y="134350125"/>
                  <a:pt x="128054100" y="128587500"/>
                  <a:pt x="133731000" y="128587500"/>
                </a:cubicBezTo>
                <a:lnTo>
                  <a:pt x="154305000" y="128587500"/>
                </a:lnTo>
                <a:cubicBezTo>
                  <a:pt x="159981900" y="128587500"/>
                  <a:pt x="164592000" y="134350125"/>
                  <a:pt x="164592000" y="141446250"/>
                </a:cubicBezTo>
                <a:cubicBezTo>
                  <a:pt x="164592000" y="148542375"/>
                  <a:pt x="159981900" y="154305000"/>
                  <a:pt x="154305000" y="154305000"/>
                </a:cubicBezTo>
                <a:lnTo>
                  <a:pt x="133731000" y="154305000"/>
                </a:lnTo>
                <a:cubicBezTo>
                  <a:pt x="128054100" y="154305000"/>
                  <a:pt x="123444000" y="148542375"/>
                  <a:pt x="123444000" y="141446250"/>
                </a:cubicBezTo>
                <a:close/>
              </a:path>
            </a:pathLst>
          </a:custGeom>
          <a:solidFill xmlns:a="http://schemas.openxmlformats.org/drawingml/2006/main">
            <a:srgbClr val="000000"/>
          </a:solidFill>
        </p:spPr>
      </p:sp>
    </p:spTree>
    <p:extLst>
      <p:ext uri="{BB962C8B-B14F-4D97-AF65-F5344CB8AC3E}">
        <p14:creationId xmlns:p14="http://schemas.microsoft.com/office/powerpoint/2010/main" val="64039279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2" name="Google-Shape-532-p58-2">
            <a:extLst xmlns:a="http://schemas.openxmlformats.org/drawingml/2006/main">
              <a:ext uri="{FF2B5EF4-FFF2-40B4-BE49-F238E27FC236}">
                <a16:creationId xmlns:a16="http://schemas.microsoft.com/office/drawing/2014/main" id="{2F3A304C-8C44-4F37-B093-6316209E3645}"/>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09</a:t>
            </a:r>
          </a:p>
        </p:txBody>
      </p:sp>
      <p:sp>
        <p:nvSpPr>
          <p:cNvPr id="2" name="Google-Shape-533-p58-3">
            <a:extLst xmlns:a="http://schemas.openxmlformats.org/drawingml/2006/main">
              <a:ext uri="{FF2B5EF4-FFF2-40B4-BE49-F238E27FC236}">
                <a16:creationId xmlns:a16="http://schemas.microsoft.com/office/drawing/2014/main" id="{386DC8AA-371E-4ADB-8E40-186BD872B3F6}"/>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理由1｜集客力がなくても案件獲得を始められる</a:t>
            </a:r>
          </a:p>
        </p:txBody>
      </p:sp>
      <p:sp>
        <p:nvSpPr>
          <p:cNvPr id="3" name="Rounded-Rectangle-6-4">
            <a:extLst xmlns:a="http://schemas.openxmlformats.org/drawingml/2006/main">
              <a:ext uri="{FF2B5EF4-FFF2-40B4-BE49-F238E27FC236}">
                <a16:creationId xmlns:a16="http://schemas.microsoft.com/office/drawing/2014/main" id="{EA035568-6055-4833-8794-F6C48C0925B5}"/>
              </a:ext>
            </a:extLst>
          </p:cNvPr>
          <p:cNvSpPr>
            <a:spLocks xmlns:a="http://schemas.openxmlformats.org/drawingml/2006/main" noGrp="1"/>
          </p:cNvSpPr>
          <p:nvPr/>
        </p:nvSpPr>
        <p:spPr>
          <a:xfrm xmlns:a="http://schemas.openxmlformats.org/drawingml/2006/main">
            <a:off x="6264402" y="236982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51E07875-5D47-42C1-90F6-426EDB0EB3FA}"/>
              </a:ext>
            </a:extLst>
          </p:cNvPr>
          <p:cNvSpPr>
            <a:spLocks xmlns:a="http://schemas.openxmlformats.org/drawingml/2006/main" noGrp="1"/>
          </p:cNvSpPr>
          <p:nvPr/>
        </p:nvSpPr>
        <p:spPr>
          <a:xfrm xmlns:a="http://schemas.openxmlformats.org/drawingml/2006/main">
            <a:off x="6561677" y="266480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マッチング</a:t>
            </a:r>
          </a:p>
          <a:p xmlns:a="http://schemas.openxmlformats.org/drawingml/2006/main">
            <a:pPr algn="l">
              <a:defRPr sz="2400">
                <a:solidFill>
                  <a:srgbClr val="000000"/>
                </a:solidFill>
                <a:latin typeface="Helvetica Neue"/>
                <a:ea typeface="Helvetica Neue"/>
                <a:cs typeface="Helvetica Neue"/>
              </a:defRPr>
            </a:pPr>
            <a:r>
              <a:t>経験を伝える</a:t>
            </a:r>
          </a:p>
        </p:txBody>
      </p:sp>
      <p:sp>
        <p:nvSpPr>
          <p:cNvPr id="5" name="Rounded-Rectangle-8-6">
            <a:extLst xmlns:a="http://schemas.openxmlformats.org/drawingml/2006/main">
              <a:ext uri="{FF2B5EF4-FFF2-40B4-BE49-F238E27FC236}">
                <a16:creationId xmlns:a16="http://schemas.microsoft.com/office/drawing/2014/main" id="{5AD3C944-5FD1-4CE9-9022-F023664762D7}"/>
              </a:ext>
            </a:extLst>
          </p:cNvPr>
          <p:cNvSpPr>
            <a:spLocks xmlns:a="http://schemas.openxmlformats.org/drawingml/2006/main" noGrp="1"/>
          </p:cNvSpPr>
          <p:nvPr/>
        </p:nvSpPr>
        <p:spPr>
          <a:xfrm xmlns:a="http://schemas.openxmlformats.org/drawingml/2006/main">
            <a:off x="409004" y="236982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6" name="Content-Placeholder-10-7">
            <a:extLst xmlns:a="http://schemas.openxmlformats.org/drawingml/2006/main">
              <a:ext uri="{FF2B5EF4-FFF2-40B4-BE49-F238E27FC236}">
                <a16:creationId xmlns:a16="http://schemas.microsoft.com/office/drawing/2014/main" id="{63689710-FE0D-4E4D-B6CF-9BF6E978F211}"/>
              </a:ext>
            </a:extLst>
          </p:cNvPr>
          <p:cNvSpPr>
            <a:spLocks xmlns:a="http://schemas.openxmlformats.org/drawingml/2006/main" noGrp="1"/>
          </p:cNvSpPr>
          <p:nvPr/>
        </p:nvSpPr>
        <p:spPr>
          <a:xfrm xmlns:a="http://schemas.openxmlformats.org/drawingml/2006/main">
            <a:off x="706279" y="266480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案件供給</a:t>
            </a:r>
          </a:p>
          <a:p xmlns:a="http://schemas.openxmlformats.org/drawingml/2006/main">
            <a:pPr algn="l">
              <a:defRPr sz="2400">
                <a:solidFill>
                  <a:srgbClr val="000000"/>
                </a:solidFill>
                <a:latin typeface="Helvetica Neue"/>
                <a:ea typeface="Helvetica Neue"/>
                <a:cs typeface="Helvetica Neue"/>
              </a:defRPr>
            </a:pPr>
            <a:r>
              <a:t>募集を探す</a:t>
            </a:r>
          </a:p>
        </p:txBody>
      </p:sp>
      <p:sp>
        <p:nvSpPr>
          <p:cNvPr id="7" name="Rounded-Rectangle-1-8">
            <a:extLst xmlns:a="http://schemas.openxmlformats.org/drawingml/2006/main">
              <a:ext uri="{FF2B5EF4-FFF2-40B4-BE49-F238E27FC236}">
                <a16:creationId xmlns:a16="http://schemas.microsoft.com/office/drawing/2014/main" id="{58C9C11C-1DEF-4479-A462-387D645AB670}"/>
              </a:ext>
            </a:extLst>
          </p:cNvPr>
          <p:cNvSpPr>
            <a:spLocks xmlns:a="http://schemas.openxmlformats.org/drawingml/2006/main" noGrp="1"/>
          </p:cNvSpPr>
          <p:nvPr/>
        </p:nvSpPr>
        <p:spPr>
          <a:xfrm xmlns:a="http://schemas.openxmlformats.org/drawingml/2006/main">
            <a:off x="6264402" y="437007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8" name="Content-Placeholder-10-9">
            <a:extLst xmlns:a="http://schemas.openxmlformats.org/drawingml/2006/main">
              <a:ext uri="{FF2B5EF4-FFF2-40B4-BE49-F238E27FC236}">
                <a16:creationId xmlns:a16="http://schemas.microsoft.com/office/drawing/2014/main" id="{A9E569D1-1131-476D-9B1B-573D54AD0848}"/>
              </a:ext>
            </a:extLst>
          </p:cNvPr>
          <p:cNvSpPr>
            <a:spLocks xmlns:a="http://schemas.openxmlformats.org/drawingml/2006/main" noGrp="1"/>
          </p:cNvSpPr>
          <p:nvPr/>
        </p:nvSpPr>
        <p:spPr>
          <a:xfrm xmlns:a="http://schemas.openxmlformats.org/drawingml/2006/main">
            <a:off x="6561677" y="466505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並行投資</a:t>
            </a:r>
          </a:p>
          <a:p xmlns:a="http://schemas.openxmlformats.org/drawingml/2006/main">
            <a:pPr algn="l">
              <a:defRPr sz="2400">
                <a:solidFill>
                  <a:srgbClr val="000000"/>
                </a:solidFill>
                <a:latin typeface="Helvetica Neue"/>
                <a:ea typeface="Helvetica Neue"/>
                <a:cs typeface="Helvetica Neue"/>
              </a:defRPr>
            </a:pPr>
            <a:r>
              <a:t>独自商流を育てる</a:t>
            </a:r>
          </a:p>
        </p:txBody>
      </p:sp>
      <p:sp>
        <p:nvSpPr>
          <p:cNvPr id="9" name="Rounded-Rectangle-3-10">
            <a:extLst xmlns:a="http://schemas.openxmlformats.org/drawingml/2006/main">
              <a:ext uri="{FF2B5EF4-FFF2-40B4-BE49-F238E27FC236}">
                <a16:creationId xmlns:a16="http://schemas.microsoft.com/office/drawing/2014/main" id="{000E58CF-05FF-4100-9DCE-A8C7626A2B10}"/>
              </a:ext>
            </a:extLst>
          </p:cNvPr>
          <p:cNvSpPr>
            <a:spLocks xmlns:a="http://schemas.openxmlformats.org/drawingml/2006/main" noGrp="1"/>
          </p:cNvSpPr>
          <p:nvPr/>
        </p:nvSpPr>
        <p:spPr>
          <a:xfrm xmlns:a="http://schemas.openxmlformats.org/drawingml/2006/main">
            <a:off x="409004" y="437007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10" name="Content-Placeholder-10-11">
            <a:extLst xmlns:a="http://schemas.openxmlformats.org/drawingml/2006/main">
              <a:ext uri="{FF2B5EF4-FFF2-40B4-BE49-F238E27FC236}">
                <a16:creationId xmlns:a16="http://schemas.microsoft.com/office/drawing/2014/main" id="{CE95C998-F1C7-4C34-9A21-C082D4E49665}"/>
              </a:ext>
            </a:extLst>
          </p:cNvPr>
          <p:cNvSpPr>
            <a:spLocks xmlns:a="http://schemas.openxmlformats.org/drawingml/2006/main" noGrp="1"/>
          </p:cNvSpPr>
          <p:nvPr/>
        </p:nvSpPr>
        <p:spPr>
          <a:xfrm xmlns:a="http://schemas.openxmlformats.org/drawingml/2006/main">
            <a:off x="706279" y="466505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即金性</a:t>
            </a:r>
          </a:p>
          <a:p xmlns:a="http://schemas.openxmlformats.org/drawingml/2006/main">
            <a:pPr algn="l">
              <a:defRPr sz="2400">
                <a:solidFill>
                  <a:srgbClr val="000000"/>
                </a:solidFill>
                <a:latin typeface="Helvetica Neue"/>
                <a:ea typeface="Helvetica Neue"/>
                <a:cs typeface="Helvetica Neue"/>
              </a:defRPr>
            </a:pPr>
            <a:r>
              <a:t>売上を作る</a:t>
            </a:r>
          </a:p>
        </p:txBody>
      </p:sp>
      <p:sp>
        <p:nvSpPr>
          <p:cNvPr id="11" name="Content-Placeholder-15-12">
            <a:extLst xmlns:a="http://schemas.openxmlformats.org/drawingml/2006/main">
              <a:ext uri="{FF2B5EF4-FFF2-40B4-BE49-F238E27FC236}">
                <a16:creationId xmlns:a16="http://schemas.microsoft.com/office/drawing/2014/main" id="{291286F0-C4CC-4066-8A4D-67067DC224B0}"/>
              </a:ext>
            </a:extLst>
          </p:cNvPr>
          <p:cNvSpPr>
            <a:spLocks xmlns:a="http://schemas.openxmlformats.org/drawingml/2006/main" noGrp="1"/>
          </p:cNvSpPr>
          <p:nvPr/>
        </p:nvSpPr>
        <p:spPr>
          <a:xfrm xmlns:a="http://schemas.openxmlformats.org/drawingml/2006/main">
            <a:off x="400907" y="1057466"/>
            <a:ext cx="11404568" cy="101222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エージェントを使う価値</a:t>
            </a:r>
          </a:p>
          <a:p xmlns:a="http://schemas.openxmlformats.org/drawingml/2006/main">
            <a:pPr algn="l">
              <a:defRPr sz="1600">
                <a:solidFill>
                  <a:srgbClr val="000000"/>
                </a:solidFill>
                <a:latin typeface="Helvetica Neue"/>
                <a:ea typeface="Helvetica Neue"/>
                <a:cs typeface="Helvetica Neue"/>
              </a:defRPr>
            </a:pPr>
            <a:r>
              <a:t>知名度や営業基盤がなくても、市場にアクセスできる。</a:t>
            </a:r>
          </a:p>
        </p:txBody>
      </p:sp>
    </p:spTree>
    <p:extLst>
      <p:ext uri="{BB962C8B-B14F-4D97-AF65-F5344CB8AC3E}">
        <p14:creationId xmlns:p14="http://schemas.microsoft.com/office/powerpoint/2010/main" val="76717384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2" name="Google-Shape-532-p58-2">
            <a:extLst xmlns:a="http://schemas.openxmlformats.org/drawingml/2006/main">
              <a:ext uri="{FF2B5EF4-FFF2-40B4-BE49-F238E27FC236}">
                <a16:creationId xmlns:a16="http://schemas.microsoft.com/office/drawing/2014/main" id="{F7EF2CA7-9C32-4864-A311-96E606877C7E}"/>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10</a:t>
            </a:r>
          </a:p>
        </p:txBody>
      </p:sp>
      <p:sp>
        <p:nvSpPr>
          <p:cNvPr id="2" name="Google-Shape-533-p58-3">
            <a:extLst xmlns:a="http://schemas.openxmlformats.org/drawingml/2006/main">
              <a:ext uri="{FF2B5EF4-FFF2-40B4-BE49-F238E27FC236}">
                <a16:creationId xmlns:a16="http://schemas.microsoft.com/office/drawing/2014/main" id="{56452894-ABEA-4493-B802-AA82186D747E}"/>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理由2｜売上と稼働時間の見込みを立てやすい</a:t>
            </a:r>
          </a:p>
        </p:txBody>
      </p:sp>
      <p:sp>
        <p:nvSpPr>
          <p:cNvPr id="3" name="Content-Placeholder-10-4">
            <a:extLst xmlns:a="http://schemas.openxmlformats.org/drawingml/2006/main">
              <a:ext uri="{FF2B5EF4-FFF2-40B4-BE49-F238E27FC236}">
                <a16:creationId xmlns:a16="http://schemas.microsoft.com/office/drawing/2014/main" id="{2172DED2-7A57-42DF-A8ED-152270D45588}"/>
              </a:ext>
            </a:extLst>
          </p:cNvPr>
          <p:cNvSpPr>
            <a:spLocks xmlns:a="http://schemas.openxmlformats.org/drawingml/2006/main" noGrp="1"/>
          </p:cNvSpPr>
          <p:nvPr/>
        </p:nvSpPr>
        <p:spPr>
          <a:xfrm xmlns:a="http://schemas.openxmlformats.org/drawingml/2006/main">
            <a:off x="6972300" y="2374868"/>
            <a:ext cx="4826032"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月次で見える</a:t>
            </a:r>
          </a:p>
        </p:txBody>
      </p:sp>
      <p:sp>
        <p:nvSpPr>
          <p:cNvPr id="4" name="Content-Placeholder-10-5">
            <a:extLst xmlns:a="http://schemas.openxmlformats.org/drawingml/2006/main">
              <a:ext uri="{FF2B5EF4-FFF2-40B4-BE49-F238E27FC236}">
                <a16:creationId xmlns:a16="http://schemas.microsoft.com/office/drawing/2014/main" id="{F8C982AE-8A37-432E-8A47-AB3D378DB2AD}"/>
              </a:ext>
            </a:extLst>
          </p:cNvPr>
          <p:cNvSpPr>
            <a:spLocks xmlns:a="http://schemas.openxmlformats.org/drawingml/2006/main" noGrp="1"/>
          </p:cNvSpPr>
          <p:nvPr/>
        </p:nvSpPr>
        <p:spPr>
          <a:xfrm xmlns:a="http://schemas.openxmlformats.org/drawingml/2006/main">
            <a:off x="4851368" y="2374868"/>
            <a:ext cx="1866900"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売上</a:t>
            </a:r>
          </a:p>
        </p:txBody>
      </p:sp>
      <p:sp>
        <p:nvSpPr>
          <p:cNvPr id="5" name="Content-Placeholder-10-6">
            <a:extLst xmlns:a="http://schemas.openxmlformats.org/drawingml/2006/main">
              <a:ext uri="{FF2B5EF4-FFF2-40B4-BE49-F238E27FC236}">
                <a16:creationId xmlns:a16="http://schemas.microsoft.com/office/drawing/2014/main" id="{609AE83E-7504-4141-83DF-0D3892C51459}"/>
              </a:ext>
            </a:extLst>
          </p:cNvPr>
          <p:cNvSpPr>
            <a:spLocks xmlns:a="http://schemas.openxmlformats.org/drawingml/2006/main" noGrp="1"/>
          </p:cNvSpPr>
          <p:nvPr/>
        </p:nvSpPr>
        <p:spPr>
          <a:xfrm xmlns:a="http://schemas.openxmlformats.org/drawingml/2006/main">
            <a:off x="6972300" y="3365468"/>
            <a:ext cx="4826032"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範囲がある</a:t>
            </a:r>
          </a:p>
        </p:txBody>
      </p:sp>
      <p:sp>
        <p:nvSpPr>
          <p:cNvPr id="6" name="Content-Placeholder-10-7">
            <a:extLst xmlns:a="http://schemas.openxmlformats.org/drawingml/2006/main">
              <a:ext uri="{FF2B5EF4-FFF2-40B4-BE49-F238E27FC236}">
                <a16:creationId xmlns:a16="http://schemas.microsoft.com/office/drawing/2014/main" id="{02BD0E8C-4BD3-4CEE-8A77-B01421DFFF5B}"/>
              </a:ext>
            </a:extLst>
          </p:cNvPr>
          <p:cNvSpPr>
            <a:spLocks xmlns:a="http://schemas.openxmlformats.org/drawingml/2006/main" noGrp="1"/>
          </p:cNvSpPr>
          <p:nvPr/>
        </p:nvSpPr>
        <p:spPr>
          <a:xfrm xmlns:a="http://schemas.openxmlformats.org/drawingml/2006/main">
            <a:off x="4851368" y="3365468"/>
            <a:ext cx="1866900"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稼働</a:t>
            </a:r>
          </a:p>
        </p:txBody>
      </p:sp>
      <p:sp>
        <p:nvSpPr>
          <p:cNvPr id="7" name="Content-Placeholder-10-8">
            <a:extLst xmlns:a="http://schemas.openxmlformats.org/drawingml/2006/main">
              <a:ext uri="{FF2B5EF4-FFF2-40B4-BE49-F238E27FC236}">
                <a16:creationId xmlns:a16="http://schemas.microsoft.com/office/drawing/2014/main" id="{36BA8AAB-DF9E-4B7C-A8F9-EA89CB392B45}"/>
              </a:ext>
            </a:extLst>
          </p:cNvPr>
          <p:cNvSpPr>
            <a:spLocks xmlns:a="http://schemas.openxmlformats.org/drawingml/2006/main" noGrp="1"/>
          </p:cNvSpPr>
          <p:nvPr/>
        </p:nvSpPr>
        <p:spPr>
          <a:xfrm xmlns:a="http://schemas.openxmlformats.org/drawingml/2006/main">
            <a:off x="6972300" y="4356068"/>
            <a:ext cx="4826032"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精算できる</a:t>
            </a:r>
          </a:p>
        </p:txBody>
      </p:sp>
      <p:sp>
        <p:nvSpPr>
          <p:cNvPr id="8" name="Content-Placeholder-10-9">
            <a:extLst xmlns:a="http://schemas.openxmlformats.org/drawingml/2006/main">
              <a:ext uri="{FF2B5EF4-FFF2-40B4-BE49-F238E27FC236}">
                <a16:creationId xmlns:a16="http://schemas.microsoft.com/office/drawing/2014/main" id="{6938B9C0-0972-42A4-92BD-7248C1AC9CCD}"/>
              </a:ext>
            </a:extLst>
          </p:cNvPr>
          <p:cNvSpPr>
            <a:spLocks xmlns:a="http://schemas.openxmlformats.org/drawingml/2006/main" noGrp="1"/>
          </p:cNvSpPr>
          <p:nvPr/>
        </p:nvSpPr>
        <p:spPr>
          <a:xfrm xmlns:a="http://schemas.openxmlformats.org/drawingml/2006/main">
            <a:off x="4851368" y="4356068"/>
            <a:ext cx="1866900"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超過</a:t>
            </a:r>
          </a:p>
        </p:txBody>
      </p:sp>
      <p:sp>
        <p:nvSpPr>
          <p:cNvPr id="9" name="Content-Placeholder-10-10">
            <a:extLst xmlns:a="http://schemas.openxmlformats.org/drawingml/2006/main">
              <a:ext uri="{FF2B5EF4-FFF2-40B4-BE49-F238E27FC236}">
                <a16:creationId xmlns:a16="http://schemas.microsoft.com/office/drawing/2014/main" id="{25F09DA8-DFF8-44B6-8ACB-E5087CBEBF8E}"/>
              </a:ext>
            </a:extLst>
          </p:cNvPr>
          <p:cNvSpPr>
            <a:spLocks xmlns:a="http://schemas.openxmlformats.org/drawingml/2006/main" noGrp="1"/>
          </p:cNvSpPr>
          <p:nvPr/>
        </p:nvSpPr>
        <p:spPr>
          <a:xfrm xmlns:a="http://schemas.openxmlformats.org/drawingml/2006/main">
            <a:off x="6972300" y="5359432"/>
            <a:ext cx="4826032"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合わなければ離れる</a:t>
            </a:r>
          </a:p>
        </p:txBody>
      </p:sp>
      <p:sp>
        <p:nvSpPr>
          <p:cNvPr id="10" name="Content-Placeholder-10-11">
            <a:extLst xmlns:a="http://schemas.openxmlformats.org/drawingml/2006/main">
              <a:ext uri="{FF2B5EF4-FFF2-40B4-BE49-F238E27FC236}">
                <a16:creationId xmlns:a16="http://schemas.microsoft.com/office/drawing/2014/main" id="{41DD3B59-72F1-46A6-965F-5F7ECBF77468}"/>
              </a:ext>
            </a:extLst>
          </p:cNvPr>
          <p:cNvSpPr>
            <a:spLocks xmlns:a="http://schemas.openxmlformats.org/drawingml/2006/main" noGrp="1"/>
          </p:cNvSpPr>
          <p:nvPr/>
        </p:nvSpPr>
        <p:spPr>
          <a:xfrm xmlns:a="http://schemas.openxmlformats.org/drawingml/2006/main">
            <a:off x="4851368" y="5359432"/>
            <a:ext cx="1866900"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判断</a:t>
            </a:r>
          </a:p>
        </p:txBody>
      </p:sp>
      <p:sp>
        <p:nvSpPr>
          <p:cNvPr id="11" name="Google-Shape-534-p58-12">
            <a:extLst xmlns:a="http://schemas.openxmlformats.org/drawingml/2006/main">
              <a:ext uri="{FF2B5EF4-FFF2-40B4-BE49-F238E27FC236}">
                <a16:creationId xmlns:a16="http://schemas.microsoft.com/office/drawing/2014/main" id="{F94D3C5F-96C8-4AA4-92B5-EB6B7AFEB1C7}"/>
              </a:ext>
            </a:extLst>
          </p:cNvPr>
          <p:cNvSpPr>
            <a:spLocks xmlns:a="http://schemas.openxmlformats.org/drawingml/2006/main" noGrp="1"/>
          </p:cNvSpPr>
          <p:nvPr/>
        </p:nvSpPr>
        <p:spPr>
          <a:xfrm xmlns:a="http://schemas.openxmlformats.org/drawingml/2006/main">
            <a:off x="393668" y="2374868"/>
            <a:ext cx="3568732" cy="3619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精算幅</a:t>
            </a:r>
          </a:p>
          <a:p xmlns:a="http://schemas.openxmlformats.org/drawingml/2006/main">
            <a:pPr algn="l">
              <a:defRPr sz="2400">
                <a:solidFill>
                  <a:srgbClr val="000000"/>
                </a:solidFill>
                <a:latin typeface="Helvetica Neue"/>
                <a:ea typeface="Helvetica Neue"/>
                <a:cs typeface="Helvetica Neue"/>
              </a:defRPr>
            </a:pPr>
            <a:r>
              <a:t>契約上の稼働時間に上限と下限を設ける。</a:t>
            </a:r>
          </a:p>
          <a:p xmlns:a="http://schemas.openxmlformats.org/drawingml/2006/main">
            <a:pPr algn="l">
              <a:defRPr sz="2400">
                <a:solidFill>
                  <a:srgbClr val="000000"/>
                </a:solidFill>
                <a:latin typeface="Helvetica Neue"/>
                <a:ea typeface="Helvetica Neue"/>
                <a:cs typeface="Helvetica Neue"/>
              </a:defRPr>
            </a:pPr>
            <a:r>
              <a:t>青天井の稼働を避けるための基準になる。</a:t>
            </a:r>
          </a:p>
        </p:txBody>
      </p:sp>
    </p:spTree>
    <p:extLst>
      <p:ext uri="{BB962C8B-B14F-4D97-AF65-F5344CB8AC3E}">
        <p14:creationId xmlns:p14="http://schemas.microsoft.com/office/powerpoint/2010/main" val="106762286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3" name="Google-Shape-532-p58-2">
            <a:extLst xmlns:a="http://schemas.openxmlformats.org/drawingml/2006/main">
              <a:ext uri="{FF2B5EF4-FFF2-40B4-BE49-F238E27FC236}">
                <a16:creationId xmlns:a16="http://schemas.microsoft.com/office/drawing/2014/main" id="{884F95E7-7559-4F9C-9C8E-C10E028462C8}"/>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11</a:t>
            </a:r>
          </a:p>
        </p:txBody>
      </p:sp>
      <p:sp>
        <p:nvSpPr>
          <p:cNvPr id="2" name="Google-Shape-533-p58-3">
            <a:extLst xmlns:a="http://schemas.openxmlformats.org/drawingml/2006/main">
              <a:ext uri="{FF2B5EF4-FFF2-40B4-BE49-F238E27FC236}">
                <a16:creationId xmlns:a16="http://schemas.microsoft.com/office/drawing/2014/main" id="{AB450CB8-E5C4-4530-BAB2-C813BAAF11D1}"/>
              </a:ext>
            </a:extLst>
          </p:cNvPr>
          <p:cNvSpPr>
            <a:spLocks xmlns:a="http://schemas.openxmlformats.org/drawingml/2006/main" noGrp="1"/>
          </p:cNvSpPr>
          <p:nvPr/>
        </p:nvSpPr>
        <p:spPr>
          <a:xfrm xmlns:a="http://schemas.openxmlformats.org/drawingml/2006/main">
            <a:off x="393668" y="344519"/>
            <a:ext cx="11404568" cy="1283018"/>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理由3｜現場は、仕事と人脈を同時に作れる</a:t>
            </a:r>
          </a:p>
        </p:txBody>
      </p:sp>
      <p:sp>
        <p:nvSpPr>
          <p:cNvPr id="3" name="Rounded-Rectangle-9-4">
            <a:extLst xmlns:a="http://schemas.openxmlformats.org/drawingml/2006/main">
              <a:ext uri="{FF2B5EF4-FFF2-40B4-BE49-F238E27FC236}">
                <a16:creationId xmlns:a16="http://schemas.microsoft.com/office/drawing/2014/main" id="{86920D29-D2C5-4233-A2DB-DE41730EABA4}"/>
              </a:ext>
            </a:extLst>
          </p:cNvPr>
          <p:cNvSpPr>
            <a:spLocks xmlns:a="http://schemas.openxmlformats.org/drawingml/2006/main" noGrp="1"/>
          </p:cNvSpPr>
          <p:nvPr/>
        </p:nvSpPr>
        <p:spPr>
          <a:xfrm xmlns:a="http://schemas.openxmlformats.org/drawingml/2006/main">
            <a:off x="4308920"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4" name="Rounded-Rectangle-10-5">
            <a:extLst xmlns:a="http://schemas.openxmlformats.org/drawingml/2006/main">
              <a:ext uri="{FF2B5EF4-FFF2-40B4-BE49-F238E27FC236}">
                <a16:creationId xmlns:a16="http://schemas.microsoft.com/office/drawing/2014/main" id="{A2B4373D-0991-4D3F-A038-E1E11F60250B}"/>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5" name="Content-Placeholder-9-6">
            <a:extLst xmlns:a="http://schemas.openxmlformats.org/drawingml/2006/main">
              <a:ext uri="{FF2B5EF4-FFF2-40B4-BE49-F238E27FC236}">
                <a16:creationId xmlns:a16="http://schemas.microsoft.com/office/drawing/2014/main" id="{C1F742C9-611B-4DED-B02B-C5CB5A965547}"/>
              </a:ext>
            </a:extLst>
          </p:cNvPr>
          <p:cNvSpPr>
            <a:spLocks xmlns:a="http://schemas.openxmlformats.org/drawingml/2006/main" noGrp="1"/>
          </p:cNvSpPr>
          <p:nvPr/>
        </p:nvSpPr>
        <p:spPr>
          <a:xfrm xmlns:a="http://schemas.openxmlformats.org/drawingml/2006/main">
            <a:off x="4621816"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決裁者</a:t>
            </a:r>
          </a:p>
          <a:p xmlns:a="http://schemas.openxmlformats.org/drawingml/2006/main">
            <a:pPr algn="l">
              <a:defRPr sz="2400">
                <a:solidFill>
                  <a:srgbClr val="000000"/>
                </a:solidFill>
                <a:latin typeface="Helvetica Neue"/>
                <a:ea typeface="Helvetica Neue"/>
                <a:cs typeface="Helvetica Neue"/>
              </a:defRPr>
            </a:pPr>
            <a:r>
              <a:t>直契約の機会</a:t>
            </a:r>
          </a:p>
        </p:txBody>
      </p:sp>
      <p:sp>
        <p:nvSpPr>
          <p:cNvPr id="6" name="Content-Placeholder-10-7">
            <a:extLst xmlns:a="http://schemas.openxmlformats.org/drawingml/2006/main">
              <a:ext uri="{FF2B5EF4-FFF2-40B4-BE49-F238E27FC236}">
                <a16:creationId xmlns:a16="http://schemas.microsoft.com/office/drawing/2014/main" id="{4F9C2750-C148-4A2D-BB35-216AA835FBD3}"/>
              </a:ext>
            </a:extLst>
          </p:cNvPr>
          <p:cNvSpPr>
            <a:spLocks xmlns:a="http://schemas.openxmlformats.org/drawingml/2006/main" noGrp="1"/>
          </p:cNvSpPr>
          <p:nvPr/>
        </p:nvSpPr>
        <p:spPr>
          <a:xfrm xmlns:a="http://schemas.openxmlformats.org/drawingml/2006/main">
            <a:off x="8536115"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エンジニア</a:t>
            </a:r>
          </a:p>
          <a:p xmlns:a="http://schemas.openxmlformats.org/drawingml/2006/main">
            <a:pPr algn="l">
              <a:defRPr sz="2400">
                <a:solidFill>
                  <a:srgbClr val="000000"/>
                </a:solidFill>
                <a:latin typeface="Helvetica Neue"/>
                <a:ea typeface="Helvetica Neue"/>
                <a:cs typeface="Helvetica Neue"/>
              </a:defRPr>
            </a:pPr>
            <a:r>
              <a:t>横のつながり</a:t>
            </a:r>
          </a:p>
        </p:txBody>
      </p:sp>
      <p:sp>
        <p:nvSpPr>
          <p:cNvPr id="7" name="Google-Shape-340-p61-8">
            <a:extLst xmlns:a="http://schemas.openxmlformats.org/drawingml/2006/main">
              <a:ext uri="{FF2B5EF4-FFF2-40B4-BE49-F238E27FC236}">
                <a16:creationId xmlns:a16="http://schemas.microsoft.com/office/drawing/2014/main" id="{9F1D5681-8DAC-477F-A16A-E462662C6626}"/>
              </a:ext>
            </a:extLst>
          </p:cNvPr>
          <p:cNvSpPr>
            <a:spLocks xmlns:a="http://schemas.openxmlformats.org/drawingml/2006/main" noGrp="1"/>
          </p:cNvSpPr>
          <p:nvPr/>
        </p:nvSpPr>
        <p:spPr>
          <a:xfrm xmlns:a="http://schemas.openxmlformats.org/drawingml/2006/main">
            <a:off x="4627626"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8" name="Google-Shape-340-p61-9">
            <a:extLst xmlns:a="http://schemas.openxmlformats.org/drawingml/2006/main">
              <a:ext uri="{FF2B5EF4-FFF2-40B4-BE49-F238E27FC236}">
                <a16:creationId xmlns:a16="http://schemas.microsoft.com/office/drawing/2014/main" id="{90648B40-6ED1-4AFC-9B43-5DA6A2A34F3F}"/>
              </a:ext>
            </a:extLst>
          </p:cNvPr>
          <p:cNvSpPr>
            <a:spLocks xmlns:a="http://schemas.openxmlformats.org/drawingml/2006/main" noGrp="1"/>
          </p:cNvSpPr>
          <p:nvPr/>
        </p:nvSpPr>
        <p:spPr>
          <a:xfrm xmlns:a="http://schemas.openxmlformats.org/drawingml/2006/main">
            <a:off x="8533257"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9" name="Rounded-Rectangle-5-10">
            <a:extLst xmlns:a="http://schemas.openxmlformats.org/drawingml/2006/main">
              <a:ext uri="{FF2B5EF4-FFF2-40B4-BE49-F238E27FC236}">
                <a16:creationId xmlns:a16="http://schemas.microsoft.com/office/drawing/2014/main" id="{87EBF1F4-4580-4317-B553-4AFF2CB03852}"/>
              </a:ext>
            </a:extLst>
          </p:cNvPr>
          <p:cNvSpPr>
            <a:spLocks xmlns:a="http://schemas.openxmlformats.org/drawingml/2006/main" noGrp="1"/>
          </p:cNvSpPr>
          <p:nvPr/>
        </p:nvSpPr>
        <p:spPr>
          <a:xfrm xmlns:a="http://schemas.openxmlformats.org/drawingml/2006/main">
            <a:off x="388334"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10" name="Content-Placeholder-9-11">
            <a:extLst xmlns:a="http://schemas.openxmlformats.org/drawingml/2006/main">
              <a:ext uri="{FF2B5EF4-FFF2-40B4-BE49-F238E27FC236}">
                <a16:creationId xmlns:a16="http://schemas.microsoft.com/office/drawing/2014/main" id="{C44099F2-DB38-4EEA-B928-711BD2BB761D}"/>
              </a:ext>
            </a:extLst>
          </p:cNvPr>
          <p:cNvSpPr>
            <a:spLocks xmlns:a="http://schemas.openxmlformats.org/drawingml/2006/main" noGrp="1"/>
          </p:cNvSpPr>
          <p:nvPr/>
        </p:nvSpPr>
        <p:spPr>
          <a:xfrm xmlns:a="http://schemas.openxmlformats.org/drawingml/2006/main">
            <a:off x="701135"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PM・PdM</a:t>
            </a:r>
          </a:p>
          <a:p xmlns:a="http://schemas.openxmlformats.org/drawingml/2006/main">
            <a:pPr algn="l">
              <a:defRPr sz="2400">
                <a:solidFill>
                  <a:srgbClr val="000000"/>
                </a:solidFill>
                <a:latin typeface="Helvetica Neue"/>
                <a:ea typeface="Helvetica Neue"/>
                <a:cs typeface="Helvetica Neue"/>
              </a:defRPr>
            </a:pPr>
            <a:r>
              <a:t>次案件の紹介</a:t>
            </a:r>
          </a:p>
        </p:txBody>
      </p:sp>
      <p:sp>
        <p:nvSpPr>
          <p:cNvPr id="11" name="Google-Shape-340-p61-12">
            <a:extLst xmlns:a="http://schemas.openxmlformats.org/drawingml/2006/main">
              <a:ext uri="{FF2B5EF4-FFF2-40B4-BE49-F238E27FC236}">
                <a16:creationId xmlns:a16="http://schemas.microsoft.com/office/drawing/2014/main" id="{E4D93675-DA78-4E6F-BB65-5D01594A5CF7}"/>
              </a:ext>
            </a:extLst>
          </p:cNvPr>
          <p:cNvSpPr>
            <a:spLocks xmlns:a="http://schemas.openxmlformats.org/drawingml/2006/main" noGrp="1"/>
          </p:cNvSpPr>
          <p:nvPr/>
        </p:nvSpPr>
        <p:spPr>
          <a:xfrm xmlns:a="http://schemas.openxmlformats.org/drawingml/2006/main">
            <a:off x="707041"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2" name="Content-Placeholder-15-13">
            <a:extLst xmlns:a="http://schemas.openxmlformats.org/drawingml/2006/main">
              <a:ext uri="{FF2B5EF4-FFF2-40B4-BE49-F238E27FC236}">
                <a16:creationId xmlns:a16="http://schemas.microsoft.com/office/drawing/2014/main" id="{9A120BA6-CBCC-430A-923A-78A0664DFA4D}"/>
              </a:ext>
            </a:extLst>
          </p:cNvPr>
          <p:cNvSpPr>
            <a:spLocks xmlns:a="http://schemas.openxmlformats.org/drawingml/2006/main" noGrp="1"/>
          </p:cNvSpPr>
          <p:nvPr/>
        </p:nvSpPr>
        <p:spPr>
          <a:xfrm xmlns:a="http://schemas.openxmlformats.org/drawingml/2006/main">
            <a:off x="393668" y="1450562"/>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信用の複利</a:t>
            </a:r>
          </a:p>
          <a:p xmlns:a="http://schemas.openxmlformats.org/drawingml/2006/main">
            <a:pPr algn="l">
              <a:defRPr sz="1600">
                <a:solidFill>
                  <a:srgbClr val="000000"/>
                </a:solidFill>
                <a:latin typeface="Helvetica Neue"/>
                <a:ea typeface="Helvetica Neue"/>
                <a:cs typeface="Helvetica Neue"/>
              </a:defRPr>
            </a:pPr>
            <a:r>
              <a:t>良い仕事をすると、次の仕事を紹介される。</a:t>
            </a:r>
          </a:p>
          <a:p xmlns:a="http://schemas.openxmlformats.org/drawingml/2006/main">
            <a:pPr algn="l">
              <a:defRPr sz="1600">
                <a:solidFill>
                  <a:srgbClr val="000000"/>
                </a:solidFill>
                <a:latin typeface="Helvetica Neue"/>
                <a:ea typeface="Helvetica Neue"/>
                <a:cs typeface="Helvetica Neue"/>
              </a:defRPr>
            </a:pPr>
            <a:r>
              <a:t>現場で得られるのは、報酬だけではない。</a:t>
            </a:r>
          </a:p>
        </p:txBody>
      </p:sp>
    </p:spTree>
    <p:extLst>
      <p:ext uri="{BB962C8B-B14F-4D97-AF65-F5344CB8AC3E}">
        <p14:creationId xmlns:p14="http://schemas.microsoft.com/office/powerpoint/2010/main" val="117703772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97A66063-BEDF-42F1-9DF3-99B7074DD4AD}"/>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12</a:t>
            </a:r>
          </a:p>
        </p:txBody>
      </p:sp>
      <p:sp>
        <p:nvSpPr>
          <p:cNvPr id="2" name="Title-10-3">
            <a:extLst xmlns:a="http://schemas.openxmlformats.org/drawingml/2006/main">
              <a:ext uri="{FF2B5EF4-FFF2-40B4-BE49-F238E27FC236}">
                <a16:creationId xmlns:a16="http://schemas.microsoft.com/office/drawing/2014/main" id="{8A2AA6EF-70C4-49D7-81DA-BA28EE6364F5}"/>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実績と相場観が、単価を引き上げる</a:t>
            </a:r>
          </a:p>
        </p:txBody>
      </p:sp>
      <p:cxnSp>
        <p:nvCxnSpPr>
          <p:cNvPr id="15"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8F890175-4C22-4FF9-960C-0E999583A6CD}"/>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076A15C8-71F0-4D43-BC1E-37D528B6F19E}"/>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71B148EC-7876-45D7-B569-6526E5BD15DE}"/>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BC633A9E-135B-4773-8036-0B097D32EBAE}"/>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2016.02</a:t>
            </a:r>
          </a:p>
        </p:txBody>
      </p:sp>
      <p:sp>
        <p:nvSpPr>
          <p:cNvPr id="8" name="Content-Placeholder-15-9">
            <a:extLst xmlns:a="http://schemas.openxmlformats.org/drawingml/2006/main">
              <a:ext uri="{FF2B5EF4-FFF2-40B4-BE49-F238E27FC236}">
                <a16:creationId xmlns:a16="http://schemas.microsoft.com/office/drawing/2014/main" id="{14CFC241-C0AB-47D9-BAAD-D099299A7548}"/>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2016.08</a:t>
            </a:r>
          </a:p>
        </p:txBody>
      </p:sp>
      <p:sp>
        <p:nvSpPr>
          <p:cNvPr id="9" name="Content-Placeholder-15-10">
            <a:extLst xmlns:a="http://schemas.openxmlformats.org/drawingml/2006/main">
              <a:ext uri="{FF2B5EF4-FFF2-40B4-BE49-F238E27FC236}">
                <a16:creationId xmlns:a16="http://schemas.microsoft.com/office/drawing/2014/main" id="{788408F2-C31C-423C-A87B-0B274F5A7EFD}"/>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2017.02</a:t>
            </a:r>
          </a:p>
        </p:txBody>
      </p:sp>
      <p:sp>
        <p:nvSpPr>
          <p:cNvPr id="10" name="Text-Placeholder-16-11">
            <a:extLst xmlns:a="http://schemas.openxmlformats.org/drawingml/2006/main">
              <a:ext uri="{FF2B5EF4-FFF2-40B4-BE49-F238E27FC236}">
                <a16:creationId xmlns:a16="http://schemas.microsoft.com/office/drawing/2014/main" id="{FBD28CE3-9BCC-4D7C-A244-13BB9F7F423E}"/>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70万円</a:t>
            </a:r>
          </a:p>
          <a:p xmlns:a="http://schemas.openxmlformats.org/drawingml/2006/main">
            <a:pPr algn="l">
              <a:defRPr sz="2400">
                <a:solidFill>
                  <a:srgbClr val="000000"/>
                </a:solidFill>
                <a:latin typeface="Helvetica Neue"/>
                <a:ea typeface="Helvetica Neue"/>
                <a:cs typeface="Helvetica Neue"/>
              </a:defRPr>
            </a:pPr>
            <a:r>
              <a:t>半年後の次案件</a:t>
            </a:r>
          </a:p>
        </p:txBody>
      </p:sp>
      <p:sp>
        <p:nvSpPr>
          <p:cNvPr id="11" name="Text-Placeholder-16-12">
            <a:extLst xmlns:a="http://schemas.openxmlformats.org/drawingml/2006/main">
              <a:ext uri="{FF2B5EF4-FFF2-40B4-BE49-F238E27FC236}">
                <a16:creationId xmlns:a16="http://schemas.microsoft.com/office/drawing/2014/main" id="{242E8194-4DC5-44AF-8C6F-650C7B7E4207}"/>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60万円</a:t>
            </a:r>
          </a:p>
          <a:p xmlns:a="http://schemas.openxmlformats.org/drawingml/2006/main">
            <a:pPr algn="l">
              <a:defRPr sz="2400">
                <a:solidFill>
                  <a:srgbClr val="000000"/>
                </a:solidFill>
                <a:latin typeface="Helvetica Neue"/>
                <a:ea typeface="Helvetica Neue"/>
                <a:cs typeface="Helvetica Neue"/>
              </a:defRPr>
            </a:pPr>
            <a:r>
              <a:t>独立後、最初の案件</a:t>
            </a:r>
          </a:p>
        </p:txBody>
      </p:sp>
      <p:sp>
        <p:nvSpPr>
          <p:cNvPr id="12" name="Text-Placeholder-16-13">
            <a:extLst xmlns:a="http://schemas.openxmlformats.org/drawingml/2006/main">
              <a:ext uri="{FF2B5EF4-FFF2-40B4-BE49-F238E27FC236}">
                <a16:creationId xmlns:a16="http://schemas.microsoft.com/office/drawing/2014/main" id="{D0E6307F-111D-4AC4-BA3C-502BFEB06481}"/>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83万円＋副業25万円</a:t>
            </a:r>
          </a:p>
          <a:p xmlns:a="http://schemas.openxmlformats.org/drawingml/2006/main">
            <a:pPr algn="l">
              <a:defRPr sz="2400">
                <a:solidFill>
                  <a:srgbClr val="000000"/>
                </a:solidFill>
                <a:latin typeface="Helvetica Neue"/>
                <a:ea typeface="Helvetica Neue"/>
                <a:cs typeface="Helvetica Neue"/>
              </a:defRPr>
            </a:pPr>
            <a:r>
              <a:t>信用と紹介で商流を拡張</a:t>
            </a:r>
          </a:p>
        </p:txBody>
      </p:sp>
    </p:spTree>
    <p:extLst>
      <p:ext uri="{BB962C8B-B14F-4D97-AF65-F5344CB8AC3E}">
        <p14:creationId xmlns:p14="http://schemas.microsoft.com/office/powerpoint/2010/main" val="72649389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6" name="Slide-Number-Placeholder-3-2">
            <a:extLst xmlns:a="http://schemas.openxmlformats.org/drawingml/2006/main">
              <a:ext uri="{FF2B5EF4-FFF2-40B4-BE49-F238E27FC236}">
                <a16:creationId xmlns:a16="http://schemas.microsoft.com/office/drawing/2014/main" id="{269D85C0-5621-4C49-8EF8-D6AB2EF6BBC8}"/>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13</a:t>
            </a:r>
          </a:p>
        </p:txBody>
      </p:sp>
      <p:sp>
        <p:nvSpPr>
          <p:cNvPr id="2" name="Title-10-3">
            <a:extLst xmlns:a="http://schemas.openxmlformats.org/drawingml/2006/main">
              <a:ext uri="{FF2B5EF4-FFF2-40B4-BE49-F238E27FC236}">
                <a16:creationId xmlns:a16="http://schemas.microsoft.com/office/drawing/2014/main" id="{95A7DABE-43CB-45C0-B17C-71A38AF55F88}"/>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最初の案件を、次の商流への踏み台にする</a:t>
            </a:r>
          </a:p>
        </p:txBody>
      </p:sp>
      <p:cxnSp>
        <p:nvCxnSpPr>
          <p:cNvPr id="18" name="Google-Shape-2259-p159-4"/>
          <p:cNvCxnSpPr/>
          <p:nvPr/>
        </p:nvCxnSpPr>
        <p:spPr>
          <a:xfrm xmlns:a="http://schemas.openxmlformats.org/drawingml/2006/main">
            <a:off x="337757" y="5341620"/>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C739B35A-37F3-4169-968F-218F418E7335}"/>
              </a:ext>
            </a:extLst>
          </p:cNvPr>
          <p:cNvSpPr>
            <a:spLocks xmlns:a="http://schemas.openxmlformats.org/drawingml/2006/main" noGrp="1"/>
          </p:cNvSpPr>
          <p:nvPr/>
        </p:nvSpPr>
        <p:spPr>
          <a:xfrm xmlns:a="http://schemas.openxmlformats.org/drawingml/2006/main">
            <a:off x="337757" y="5288089"/>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2A98A34F-0096-4590-9B89-9EC9F9EC058A}"/>
              </a:ext>
            </a:extLst>
          </p:cNvPr>
          <p:cNvSpPr>
            <a:spLocks xmlns:a="http://schemas.openxmlformats.org/drawingml/2006/main" noGrp="1"/>
          </p:cNvSpPr>
          <p:nvPr/>
        </p:nvSpPr>
        <p:spPr>
          <a:xfrm xmlns:a="http://schemas.openxmlformats.org/drawingml/2006/main">
            <a:off x="4251770" y="5288089"/>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520C2C5A-BB07-41D3-92A9-804E7CD027C5}"/>
              </a:ext>
            </a:extLst>
          </p:cNvPr>
          <p:cNvSpPr>
            <a:spLocks xmlns:a="http://schemas.openxmlformats.org/drawingml/2006/main" noGrp="1"/>
          </p:cNvSpPr>
          <p:nvPr/>
        </p:nvSpPr>
        <p:spPr>
          <a:xfrm xmlns:a="http://schemas.openxmlformats.org/drawingml/2006/main">
            <a:off x="8176070" y="5288089"/>
            <a:ext cx="107061" cy="107061"/>
          </a:xfrm>
          <a:prstGeom xmlns:a="http://schemas.openxmlformats.org/drawingml/2006/main" prst="ellipse">
            <a:avLst/>
          </a:prstGeom>
          <a:solidFill xmlns:a="http://schemas.openxmlformats.org/drawingml/2006/main">
            <a:srgbClr val="000000"/>
          </a:solidFill>
        </p:spPr>
      </p:sp>
      <p:sp>
        <p:nvSpPr>
          <p:cNvPr id="7" name="Rounded-Rectangle-19-8">
            <a:extLst xmlns:a="http://schemas.openxmlformats.org/drawingml/2006/main">
              <a:ext uri="{FF2B5EF4-FFF2-40B4-BE49-F238E27FC236}">
                <a16:creationId xmlns:a16="http://schemas.microsoft.com/office/drawing/2014/main" id="{7F05FA02-4CC7-417A-AAFF-5A06FC2E8B89}"/>
              </a:ext>
            </a:extLst>
          </p:cNvPr>
          <p:cNvSpPr>
            <a:spLocks xmlns:a="http://schemas.openxmlformats.org/drawingml/2006/main" noGrp="1"/>
          </p:cNvSpPr>
          <p:nvPr/>
        </p:nvSpPr>
        <p:spPr>
          <a:xfrm xmlns:a="http://schemas.openxmlformats.org/drawingml/2006/main">
            <a:off x="393668"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8" name="Content-Placeholder-8-9">
            <a:extLst xmlns:a="http://schemas.openxmlformats.org/drawingml/2006/main">
              <a:ext uri="{FF2B5EF4-FFF2-40B4-BE49-F238E27FC236}">
                <a16:creationId xmlns:a16="http://schemas.microsoft.com/office/drawing/2014/main" id="{B89F0B7E-1E32-4384-9B38-E7C75E7B31DA}"/>
              </a:ext>
            </a:extLst>
          </p:cNvPr>
          <p:cNvSpPr>
            <a:spLocks xmlns:a="http://schemas.openxmlformats.org/drawingml/2006/main" noGrp="1"/>
          </p:cNvSpPr>
          <p:nvPr/>
        </p:nvSpPr>
        <p:spPr>
          <a:xfrm xmlns:a="http://schemas.openxmlformats.org/drawingml/2006/main">
            <a:off x="703421"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エージェント</a:t>
            </a:r>
          </a:p>
          <a:p xmlns:a="http://schemas.openxmlformats.org/drawingml/2006/main">
            <a:pPr algn="l">
              <a:defRPr sz="1600">
                <a:solidFill>
                  <a:srgbClr val="000000"/>
                </a:solidFill>
                <a:latin typeface="Helvetica Neue"/>
                <a:ea typeface="Helvetica Neue"/>
                <a:cs typeface="Helvetica Neue"/>
              </a:defRPr>
            </a:pPr>
            <a:r>
              <a:t>まず売上を安定させる</a:t>
            </a:r>
          </a:p>
        </p:txBody>
      </p:sp>
      <p:sp>
        <p:nvSpPr>
          <p:cNvPr id="9" name="Rounded-Rectangle-21-10">
            <a:extLst xmlns:a="http://schemas.openxmlformats.org/drawingml/2006/main">
              <a:ext uri="{FF2B5EF4-FFF2-40B4-BE49-F238E27FC236}">
                <a16:creationId xmlns:a16="http://schemas.microsoft.com/office/drawing/2014/main" id="{46574F37-9A9A-4F10-8AC3-BDA7D02A3457}"/>
              </a:ext>
            </a:extLst>
          </p:cNvPr>
          <p:cNvSpPr>
            <a:spLocks xmlns:a="http://schemas.openxmlformats.org/drawingml/2006/main" noGrp="1"/>
          </p:cNvSpPr>
          <p:nvPr/>
        </p:nvSpPr>
        <p:spPr>
          <a:xfrm xmlns:a="http://schemas.openxmlformats.org/drawingml/2006/main">
            <a:off x="4308443"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0" name="Content-Placeholder-8-11">
            <a:extLst xmlns:a="http://schemas.openxmlformats.org/drawingml/2006/main">
              <a:ext uri="{FF2B5EF4-FFF2-40B4-BE49-F238E27FC236}">
                <a16:creationId xmlns:a16="http://schemas.microsoft.com/office/drawing/2014/main" id="{DFB1A9C7-9735-4655-8BB8-2A98601B87D0}"/>
              </a:ext>
            </a:extLst>
          </p:cNvPr>
          <p:cNvSpPr>
            <a:spLocks xmlns:a="http://schemas.openxmlformats.org/drawingml/2006/main" noGrp="1"/>
          </p:cNvSpPr>
          <p:nvPr/>
        </p:nvSpPr>
        <p:spPr>
          <a:xfrm xmlns:a="http://schemas.openxmlformats.org/drawingml/2006/main">
            <a:off x="4618196"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信用・実績</a:t>
            </a:r>
          </a:p>
          <a:p xmlns:a="http://schemas.openxmlformats.org/drawingml/2006/main">
            <a:pPr algn="l">
              <a:defRPr sz="1600">
                <a:solidFill>
                  <a:srgbClr val="000000"/>
                </a:solidFill>
                <a:latin typeface="Helvetica Neue"/>
                <a:ea typeface="Helvetica Neue"/>
                <a:cs typeface="Helvetica Neue"/>
              </a:defRPr>
            </a:pPr>
            <a:r>
              <a:t>現場で価値を証明する</a:t>
            </a:r>
          </a:p>
        </p:txBody>
      </p:sp>
      <p:sp>
        <p:nvSpPr>
          <p:cNvPr id="11" name="Rounded-Rectangle-23-12">
            <a:extLst xmlns:a="http://schemas.openxmlformats.org/drawingml/2006/main">
              <a:ext uri="{FF2B5EF4-FFF2-40B4-BE49-F238E27FC236}">
                <a16:creationId xmlns:a16="http://schemas.microsoft.com/office/drawing/2014/main" id="{9D04BD9A-0269-455D-A649-4DBC87DEE3DC}"/>
              </a:ext>
            </a:extLst>
          </p:cNvPr>
          <p:cNvSpPr>
            <a:spLocks xmlns:a="http://schemas.openxmlformats.org/drawingml/2006/main" noGrp="1"/>
          </p:cNvSpPr>
          <p:nvPr/>
        </p:nvSpPr>
        <p:spPr>
          <a:xfrm xmlns:a="http://schemas.openxmlformats.org/drawingml/2006/main">
            <a:off x="8237506"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2" name="Content-Placeholder-8-13">
            <a:extLst xmlns:a="http://schemas.openxmlformats.org/drawingml/2006/main">
              <a:ext uri="{FF2B5EF4-FFF2-40B4-BE49-F238E27FC236}">
                <a16:creationId xmlns:a16="http://schemas.microsoft.com/office/drawing/2014/main" id="{23A319BA-B8BB-46CA-8A99-D79229C9EB04}"/>
              </a:ext>
            </a:extLst>
          </p:cNvPr>
          <p:cNvSpPr>
            <a:spLocks xmlns:a="http://schemas.openxmlformats.org/drawingml/2006/main" noGrp="1"/>
          </p:cNvSpPr>
          <p:nvPr/>
        </p:nvSpPr>
        <p:spPr>
          <a:xfrm xmlns:a="http://schemas.openxmlformats.org/drawingml/2006/main">
            <a:off x="8547259"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紹介・直契約</a:t>
            </a:r>
          </a:p>
          <a:p xmlns:a="http://schemas.openxmlformats.org/drawingml/2006/main">
            <a:pPr algn="l">
              <a:defRPr sz="1600">
                <a:solidFill>
                  <a:srgbClr val="000000"/>
                </a:solidFill>
                <a:latin typeface="Helvetica Neue"/>
                <a:ea typeface="Helvetica Neue"/>
                <a:cs typeface="Helvetica Neue"/>
              </a:defRPr>
            </a:pPr>
            <a:r>
              <a:t>商流を浅くしていく</a:t>
            </a:r>
          </a:p>
        </p:txBody>
      </p:sp>
      <p:sp>
        <p:nvSpPr>
          <p:cNvPr id="13" name="Text-Placeholder-16-14">
            <a:extLst xmlns:a="http://schemas.openxmlformats.org/drawingml/2006/main">
              <a:ext uri="{FF2B5EF4-FFF2-40B4-BE49-F238E27FC236}">
                <a16:creationId xmlns:a16="http://schemas.microsoft.com/office/drawing/2014/main" id="{DBF1BC3D-4795-4DEA-B442-12EC19019FF3}"/>
              </a:ext>
            </a:extLst>
          </p:cNvPr>
          <p:cNvSpPr>
            <a:spLocks xmlns:a="http://schemas.openxmlformats.org/drawingml/2006/main" noGrp="1"/>
          </p:cNvSpPr>
          <p:nvPr/>
        </p:nvSpPr>
        <p:spPr>
          <a:xfrm xmlns:a="http://schemas.openxmlformats.org/drawingml/2006/main">
            <a:off x="4251770"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STEP 2</a:t>
            </a:r>
          </a:p>
        </p:txBody>
      </p:sp>
      <p:sp>
        <p:nvSpPr>
          <p:cNvPr id="14" name="Text-Placeholder-16-15">
            <a:extLst xmlns:a="http://schemas.openxmlformats.org/drawingml/2006/main">
              <a:ext uri="{FF2B5EF4-FFF2-40B4-BE49-F238E27FC236}">
                <a16:creationId xmlns:a16="http://schemas.microsoft.com/office/drawing/2014/main" id="{19D613EC-EBE2-419F-AF4A-D301F13B1E14}"/>
              </a:ext>
            </a:extLst>
          </p:cNvPr>
          <p:cNvSpPr>
            <a:spLocks xmlns:a="http://schemas.openxmlformats.org/drawingml/2006/main" noGrp="1"/>
          </p:cNvSpPr>
          <p:nvPr/>
        </p:nvSpPr>
        <p:spPr>
          <a:xfrm xmlns:a="http://schemas.openxmlformats.org/drawingml/2006/main">
            <a:off x="390906"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STEP 1</a:t>
            </a:r>
          </a:p>
        </p:txBody>
      </p:sp>
      <p:sp>
        <p:nvSpPr>
          <p:cNvPr id="15" name="Text-Placeholder-16-16">
            <a:extLst xmlns:a="http://schemas.openxmlformats.org/drawingml/2006/main">
              <a:ext uri="{FF2B5EF4-FFF2-40B4-BE49-F238E27FC236}">
                <a16:creationId xmlns:a16="http://schemas.microsoft.com/office/drawing/2014/main" id="{573F6B8F-55AF-4980-AF84-56A49FF8E6F4}"/>
              </a:ext>
            </a:extLst>
          </p:cNvPr>
          <p:cNvSpPr>
            <a:spLocks xmlns:a="http://schemas.openxmlformats.org/drawingml/2006/main" noGrp="1"/>
          </p:cNvSpPr>
          <p:nvPr/>
        </p:nvSpPr>
        <p:spPr>
          <a:xfrm xmlns:a="http://schemas.openxmlformats.org/drawingml/2006/main">
            <a:off x="8225409"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STEP 3</a:t>
            </a:r>
          </a:p>
        </p:txBody>
      </p:sp>
    </p:spTree>
    <p:extLst>
      <p:ext uri="{BB962C8B-B14F-4D97-AF65-F5344CB8AC3E}">
        <p14:creationId xmlns:p14="http://schemas.microsoft.com/office/powerpoint/2010/main" val="60052236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9" name="Google-Shape-532-p58-2">
            <a:extLst xmlns:a="http://schemas.openxmlformats.org/drawingml/2006/main">
              <a:ext uri="{FF2B5EF4-FFF2-40B4-BE49-F238E27FC236}">
                <a16:creationId xmlns:a16="http://schemas.microsoft.com/office/drawing/2014/main" id="{2962E0EB-BD57-411E-9A65-6693CB814E0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14</a:t>
            </a:r>
          </a:p>
        </p:txBody>
      </p:sp>
      <p:sp>
        <p:nvSpPr>
          <p:cNvPr id="2" name="Google-Shape-533-p58-3">
            <a:extLst xmlns:a="http://schemas.openxmlformats.org/drawingml/2006/main">
              <a:ext uri="{FF2B5EF4-FFF2-40B4-BE49-F238E27FC236}">
                <a16:creationId xmlns:a16="http://schemas.microsoft.com/office/drawing/2014/main" id="{0D65775E-ED69-47FA-BE1D-553B67778470}"/>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まずは業務委託で始める</a:t>
            </a:r>
          </a:p>
        </p:txBody>
      </p:sp>
      <p:sp>
        <p:nvSpPr>
          <p:cNvPr id="3" name="Google-Shape-558-p61-4">
            <a:extLst xmlns:a="http://schemas.openxmlformats.org/drawingml/2006/main">
              <a:ext uri="{FF2B5EF4-FFF2-40B4-BE49-F238E27FC236}">
                <a16:creationId xmlns:a16="http://schemas.microsoft.com/office/drawing/2014/main" id="{F079F89E-F065-44DB-9ED3-03FA16B10C3B}"/>
              </a:ext>
            </a:extLst>
          </p:cNvPr>
          <p:cNvSpPr>
            <a:spLocks xmlns:a="http://schemas.openxmlformats.org/drawingml/2006/main" noGrp="1"/>
          </p:cNvSpPr>
          <p:nvPr/>
        </p:nvSpPr>
        <p:spPr>
          <a:xfrm xmlns:a="http://schemas.openxmlformats.org/drawingml/2006/main">
            <a:off x="393668" y="4013168"/>
            <a:ext cx="3568732" cy="1981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売上を
安定させる</a:t>
            </a:r>
          </a:p>
        </p:txBody>
      </p:sp>
      <p:sp>
        <p:nvSpPr>
          <p:cNvPr id="4" name="Google-Shape-559-p61-5">
            <a:extLst xmlns:a="http://schemas.openxmlformats.org/drawingml/2006/main">
              <a:ext uri="{FF2B5EF4-FFF2-40B4-BE49-F238E27FC236}">
                <a16:creationId xmlns:a16="http://schemas.microsoft.com/office/drawing/2014/main" id="{34BE45D7-1E04-4C2E-92D4-E9B1BBF28421}"/>
              </a:ext>
            </a:extLst>
          </p:cNvPr>
          <p:cNvSpPr>
            <a:spLocks xmlns:a="http://schemas.openxmlformats.org/drawingml/2006/main" noGrp="1"/>
          </p:cNvSpPr>
          <p:nvPr/>
        </p:nvSpPr>
        <p:spPr>
          <a:xfrm xmlns:a="http://schemas.openxmlformats.org/drawingml/2006/main">
            <a:off x="4317968" y="4013168"/>
            <a:ext cx="3568732" cy="1981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信用と人脈を
積み上げる</a:t>
            </a:r>
          </a:p>
        </p:txBody>
      </p:sp>
      <p:sp>
        <p:nvSpPr>
          <p:cNvPr id="5" name="Google-Shape-560-p61-6">
            <a:extLst xmlns:a="http://schemas.openxmlformats.org/drawingml/2006/main">
              <a:ext uri="{FF2B5EF4-FFF2-40B4-BE49-F238E27FC236}">
                <a16:creationId xmlns:a16="http://schemas.microsoft.com/office/drawing/2014/main" id="{0CA6D10F-28D1-48EF-A9FA-9BA97DF22145}"/>
              </a:ext>
            </a:extLst>
          </p:cNvPr>
          <p:cNvSpPr>
            <a:spLocks xmlns:a="http://schemas.openxmlformats.org/drawingml/2006/main" noGrp="1"/>
          </p:cNvSpPr>
          <p:nvPr/>
        </p:nvSpPr>
        <p:spPr>
          <a:xfrm xmlns:a="http://schemas.openxmlformats.org/drawingml/2006/main">
            <a:off x="8232267" y="4013168"/>
            <a:ext cx="3568732" cy="1981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紹介・直契約へ
進む</a:t>
            </a:r>
          </a:p>
        </p:txBody>
      </p:sp>
      <p:sp>
        <p:nvSpPr>
          <p:cNvPr id="6" name="Google-Shape-561-p61-7">
            <a:extLst xmlns:a="http://schemas.openxmlformats.org/drawingml/2006/main">
              <a:ext uri="{FF2B5EF4-FFF2-40B4-BE49-F238E27FC236}">
                <a16:creationId xmlns:a16="http://schemas.microsoft.com/office/drawing/2014/main" id="{EB503C5D-0D88-4BCA-9EEF-505DD9758719}"/>
              </a:ext>
            </a:extLst>
          </p:cNvPr>
          <p:cNvSpPr>
            <a:spLocks xmlns:a="http://schemas.openxmlformats.org/drawingml/2006/main" noGrp="1"/>
          </p:cNvSpPr>
          <p:nvPr/>
        </p:nvSpPr>
        <p:spPr>
          <a:xfrm xmlns:a="http://schemas.openxmlformats.org/drawingml/2006/main">
            <a:off x="4279868" y="3382328"/>
            <a:ext cx="315563" cy="353854"/>
          </a:xfrm>
          <a:custGeom xmlns:a="http://schemas.openxmlformats.org/drawingml/2006/main">
            <a:pathLst>
              <a:path w="192747900" h="191595375">
                <a:moveTo>
                  <a:pt x="107661075" y="24707850"/>
                </a:moveTo>
                <a:lnTo>
                  <a:pt x="20716875" y="114138075"/>
                </a:lnTo>
                <a:lnTo>
                  <a:pt x="86039325" y="114138075"/>
                </a:lnTo>
                <a:cubicBezTo>
                  <a:pt x="89192100" y="114138075"/>
                  <a:pt x="92182950" y="115423950"/>
                  <a:pt x="94135575" y="117614700"/>
                </a:cubicBezTo>
                <a:cubicBezTo>
                  <a:pt x="96097725" y="119814975"/>
                  <a:pt x="96821625" y="122682000"/>
                  <a:pt x="96097725" y="125406150"/>
                </a:cubicBezTo>
                <a:lnTo>
                  <a:pt x="85086825" y="166897050"/>
                </a:lnTo>
                <a:lnTo>
                  <a:pt x="172031025" y="77466825"/>
                </a:lnTo>
                <a:lnTo>
                  <a:pt x="106708575" y="77466825"/>
                </a:lnTo>
                <a:cubicBezTo>
                  <a:pt x="103555800" y="77466825"/>
                  <a:pt x="100564950" y="76190475"/>
                  <a:pt x="98612325" y="73990200"/>
                </a:cubicBezTo>
                <a:cubicBezTo>
                  <a:pt x="96650175" y="71789925"/>
                  <a:pt x="95926275" y="68922900"/>
                  <a:pt x="96650175" y="66198750"/>
                </a:cubicBezTo>
                <a:lnTo>
                  <a:pt x="107661075" y="24707850"/>
                </a:lnTo>
                <a:close/>
                <a:moveTo>
                  <a:pt x="98888550" y="5648325"/>
                </a:moveTo>
                <a:cubicBezTo>
                  <a:pt x="111242475" y="-7067550"/>
                  <a:pt x="134540625" y="3457575"/>
                  <a:pt x="130206750" y="19792950"/>
                </a:cubicBezTo>
                <a:lnTo>
                  <a:pt x="119767350" y="59131200"/>
                </a:lnTo>
                <a:lnTo>
                  <a:pt x="172031025" y="59131200"/>
                </a:lnTo>
                <a:cubicBezTo>
                  <a:pt x="189718950" y="59131200"/>
                  <a:pt x="199243950" y="77552550"/>
                  <a:pt x="187690125" y="89439750"/>
                </a:cubicBezTo>
                <a:lnTo>
                  <a:pt x="93859350" y="185956575"/>
                </a:lnTo>
                <a:cubicBezTo>
                  <a:pt x="81505425" y="198672450"/>
                  <a:pt x="58207275" y="188147325"/>
                  <a:pt x="62541150" y="171811950"/>
                </a:cubicBezTo>
                <a:lnTo>
                  <a:pt x="72980550" y="132473700"/>
                </a:lnTo>
                <a:lnTo>
                  <a:pt x="20716875" y="132473700"/>
                </a:lnTo>
                <a:cubicBezTo>
                  <a:pt x="3028950" y="132473700"/>
                  <a:pt x="-6496050" y="114052350"/>
                  <a:pt x="5057775" y="102165150"/>
                </a:cubicBezTo>
                <a:lnTo>
                  <a:pt x="98888550" y="5648325"/>
                </a:lnTo>
                <a:close/>
              </a:path>
            </a:pathLst>
          </a:custGeom>
          <a:solidFill xmlns:a="http://schemas.openxmlformats.org/drawingml/2006/main">
            <a:srgbClr val="000000"/>
          </a:solidFill>
        </p:spPr>
      </p:sp>
      <p:sp>
        <p:nvSpPr>
          <p:cNvPr id="7" name="Google-Shape-562-p61-8">
            <a:extLst xmlns:a="http://schemas.openxmlformats.org/drawingml/2006/main">
              <a:ext uri="{FF2B5EF4-FFF2-40B4-BE49-F238E27FC236}">
                <a16:creationId xmlns:a16="http://schemas.microsoft.com/office/drawing/2014/main" id="{67439423-5482-4FEC-87F2-41E8B62D459A}"/>
              </a:ext>
            </a:extLst>
          </p:cNvPr>
          <p:cNvSpPr>
            <a:spLocks xmlns:a="http://schemas.openxmlformats.org/drawingml/2006/main" noGrp="1"/>
          </p:cNvSpPr>
          <p:nvPr/>
        </p:nvSpPr>
        <p:spPr>
          <a:xfrm xmlns:a="http://schemas.openxmlformats.org/drawingml/2006/main">
            <a:off x="401384" y="3378232"/>
            <a:ext cx="327089" cy="362045"/>
          </a:xfrm>
          <a:custGeom xmlns:a="http://schemas.openxmlformats.org/drawingml/2006/main">
            <a:pathLst>
              <a:path w="205740000" h="203196825">
                <a:moveTo>
                  <a:pt x="108194475" y="20288250"/>
                </a:moveTo>
                <a:cubicBezTo>
                  <a:pt x="104908350" y="18583275"/>
                  <a:pt x="100850700" y="18583275"/>
                  <a:pt x="97545525" y="20288250"/>
                </a:cubicBezTo>
                <a:lnTo>
                  <a:pt x="30956250" y="54597300"/>
                </a:lnTo>
                <a:lnTo>
                  <a:pt x="103031925" y="90773250"/>
                </a:lnTo>
                <a:lnTo>
                  <a:pt x="177098325" y="55778400"/>
                </a:lnTo>
                <a:lnTo>
                  <a:pt x="108194475" y="20288250"/>
                </a:lnTo>
                <a:close/>
                <a:moveTo>
                  <a:pt x="184442100" y="73809225"/>
                </a:moveTo>
                <a:lnTo>
                  <a:pt x="113518950" y="107318175"/>
                </a:lnTo>
                <a:lnTo>
                  <a:pt x="113518950" y="180174900"/>
                </a:lnTo>
                <a:lnTo>
                  <a:pt x="179117625" y="146370675"/>
                </a:lnTo>
                <a:cubicBezTo>
                  <a:pt x="182422800" y="144675225"/>
                  <a:pt x="184442100" y="141541500"/>
                  <a:pt x="184442100" y="138141075"/>
                </a:cubicBezTo>
                <a:lnTo>
                  <a:pt x="184442100" y="73809225"/>
                </a:lnTo>
                <a:close/>
                <a:moveTo>
                  <a:pt x="92221050" y="180174900"/>
                </a:moveTo>
                <a:lnTo>
                  <a:pt x="92221050" y="107156250"/>
                </a:lnTo>
                <a:lnTo>
                  <a:pt x="21297900" y="71561325"/>
                </a:lnTo>
                <a:lnTo>
                  <a:pt x="21297900" y="138141075"/>
                </a:lnTo>
                <a:cubicBezTo>
                  <a:pt x="21297900" y="141541500"/>
                  <a:pt x="23317200" y="144675225"/>
                  <a:pt x="26622375" y="146370675"/>
                </a:cubicBezTo>
                <a:lnTo>
                  <a:pt x="92221050" y="180174900"/>
                </a:lnTo>
                <a:close/>
                <a:moveTo>
                  <a:pt x="86896575" y="3819525"/>
                </a:moveTo>
                <a:cubicBezTo>
                  <a:pt x="96774000" y="-1266825"/>
                  <a:pt x="108966000" y="-1266825"/>
                  <a:pt x="118843425" y="3819525"/>
                </a:cubicBezTo>
                <a:lnTo>
                  <a:pt x="189766575" y="40366950"/>
                </a:lnTo>
                <a:cubicBezTo>
                  <a:pt x="199663050" y="45462825"/>
                  <a:pt x="205740000" y="54873525"/>
                  <a:pt x="205740000" y="65055750"/>
                </a:cubicBezTo>
                <a:lnTo>
                  <a:pt x="205740000" y="138141075"/>
                </a:lnTo>
                <a:cubicBezTo>
                  <a:pt x="205740000" y="148323300"/>
                  <a:pt x="199663050" y="157743525"/>
                  <a:pt x="189766575" y="162839400"/>
                </a:cubicBezTo>
                <a:lnTo>
                  <a:pt x="118843425" y="199377300"/>
                </a:lnTo>
                <a:cubicBezTo>
                  <a:pt x="108966000" y="204473175"/>
                  <a:pt x="96774000" y="204473175"/>
                  <a:pt x="86896575" y="199377300"/>
                </a:cubicBezTo>
                <a:lnTo>
                  <a:pt x="15973425" y="162839400"/>
                </a:lnTo>
                <a:cubicBezTo>
                  <a:pt x="6096000" y="157743525"/>
                  <a:pt x="0" y="148323300"/>
                  <a:pt x="0" y="138141075"/>
                </a:cubicBezTo>
                <a:lnTo>
                  <a:pt x="0" y="65055750"/>
                </a:lnTo>
                <a:cubicBezTo>
                  <a:pt x="0" y="54873525"/>
                  <a:pt x="6096000" y="45462825"/>
                  <a:pt x="15973425" y="40366950"/>
                </a:cubicBezTo>
                <a:lnTo>
                  <a:pt x="86896575" y="3819525"/>
                </a:lnTo>
                <a:close/>
              </a:path>
            </a:pathLst>
          </a:custGeom>
          <a:solidFill xmlns:a="http://schemas.openxmlformats.org/drawingml/2006/main">
            <a:srgbClr val="000000"/>
          </a:solidFill>
        </p:spPr>
      </p:sp>
      <p:sp>
        <p:nvSpPr>
          <p:cNvPr id="8" name="Google-Shape-563-p61-9">
            <a:extLst xmlns:a="http://schemas.openxmlformats.org/drawingml/2006/main">
              <a:ext uri="{FF2B5EF4-FFF2-40B4-BE49-F238E27FC236}">
                <a16:creationId xmlns:a16="http://schemas.microsoft.com/office/drawing/2014/main" id="{674ED25D-BE2B-4CE0-BDF6-2CBE061D1E60}"/>
              </a:ext>
            </a:extLst>
          </p:cNvPr>
          <p:cNvSpPr>
            <a:spLocks xmlns:a="http://schemas.openxmlformats.org/drawingml/2006/main" noGrp="1"/>
          </p:cNvSpPr>
          <p:nvPr/>
        </p:nvSpPr>
        <p:spPr>
          <a:xfrm xmlns:a="http://schemas.openxmlformats.org/drawingml/2006/main">
            <a:off x="8231600" y="3406807"/>
            <a:ext cx="338614" cy="270891"/>
          </a:xfrm>
          <a:custGeom xmlns:a="http://schemas.openxmlformats.org/drawingml/2006/main">
            <a:pathLst>
              <a:path w="205740000" h="205740000">
                <a:moveTo>
                  <a:pt x="59245500" y="0"/>
                </a:moveTo>
                <a:lnTo>
                  <a:pt x="146494500" y="0"/>
                </a:lnTo>
                <a:cubicBezTo>
                  <a:pt x="154781250" y="0"/>
                  <a:pt x="161620200" y="0"/>
                  <a:pt x="167182800" y="561975"/>
                </a:cubicBezTo>
                <a:cubicBezTo>
                  <a:pt x="172964475" y="1162050"/>
                  <a:pt x="178279425" y="2428875"/>
                  <a:pt x="183270525" y="5610225"/>
                </a:cubicBezTo>
                <a:cubicBezTo>
                  <a:pt x="191023875" y="10534650"/>
                  <a:pt x="197310375" y="18402300"/>
                  <a:pt x="201253725" y="28079700"/>
                </a:cubicBezTo>
                <a:cubicBezTo>
                  <a:pt x="203796900" y="34318575"/>
                  <a:pt x="204816075" y="40967025"/>
                  <a:pt x="205282800" y="48196500"/>
                </a:cubicBezTo>
                <a:cubicBezTo>
                  <a:pt x="205740000" y="55149750"/>
                  <a:pt x="205740000" y="63703200"/>
                  <a:pt x="205740000" y="74056875"/>
                </a:cubicBezTo>
                <a:lnTo>
                  <a:pt x="205740000" y="131683125"/>
                </a:lnTo>
                <a:cubicBezTo>
                  <a:pt x="205740000" y="142036800"/>
                  <a:pt x="205740000" y="150590250"/>
                  <a:pt x="205282800" y="157543500"/>
                </a:cubicBezTo>
                <a:cubicBezTo>
                  <a:pt x="204816075" y="164772975"/>
                  <a:pt x="203796900" y="171421425"/>
                  <a:pt x="201253725" y="177660300"/>
                </a:cubicBezTo>
                <a:cubicBezTo>
                  <a:pt x="197310375" y="187337700"/>
                  <a:pt x="191023875" y="195205350"/>
                  <a:pt x="183270525" y="200129775"/>
                </a:cubicBezTo>
                <a:cubicBezTo>
                  <a:pt x="178279425" y="203311125"/>
                  <a:pt x="172964475" y="204577950"/>
                  <a:pt x="167182800" y="205178025"/>
                </a:cubicBezTo>
                <a:cubicBezTo>
                  <a:pt x="161620200" y="205740000"/>
                  <a:pt x="154781250" y="205740000"/>
                  <a:pt x="146494500" y="205740000"/>
                </a:cubicBezTo>
                <a:lnTo>
                  <a:pt x="59245500" y="205740000"/>
                </a:lnTo>
                <a:cubicBezTo>
                  <a:pt x="50958750" y="205740000"/>
                  <a:pt x="44119800" y="205740000"/>
                  <a:pt x="38557200" y="205178025"/>
                </a:cubicBezTo>
                <a:cubicBezTo>
                  <a:pt x="32775525" y="204577950"/>
                  <a:pt x="27460575" y="203311125"/>
                  <a:pt x="22469475" y="200129775"/>
                </a:cubicBezTo>
                <a:cubicBezTo>
                  <a:pt x="14716125" y="195205350"/>
                  <a:pt x="8429625" y="187337700"/>
                  <a:pt x="4486275" y="177660300"/>
                </a:cubicBezTo>
                <a:cubicBezTo>
                  <a:pt x="1943100" y="171421425"/>
                  <a:pt x="923925" y="164772975"/>
                  <a:pt x="457200" y="157543500"/>
                </a:cubicBezTo>
                <a:cubicBezTo>
                  <a:pt x="0" y="150590250"/>
                  <a:pt x="0" y="142036800"/>
                  <a:pt x="0" y="131683125"/>
                </a:cubicBezTo>
                <a:lnTo>
                  <a:pt x="0" y="74056875"/>
                </a:lnTo>
                <a:cubicBezTo>
                  <a:pt x="0" y="63703200"/>
                  <a:pt x="0" y="55149750"/>
                  <a:pt x="457200" y="48196500"/>
                </a:cubicBezTo>
                <a:cubicBezTo>
                  <a:pt x="923925" y="40967025"/>
                  <a:pt x="1943100" y="34318575"/>
                  <a:pt x="4486275" y="28079700"/>
                </a:cubicBezTo>
                <a:cubicBezTo>
                  <a:pt x="8429625" y="18402300"/>
                  <a:pt x="14716125" y="10534650"/>
                  <a:pt x="22469475" y="5610225"/>
                </a:cubicBezTo>
                <a:cubicBezTo>
                  <a:pt x="27460575" y="2428875"/>
                  <a:pt x="32775525" y="1162050"/>
                  <a:pt x="38557200" y="561975"/>
                </a:cubicBezTo>
                <a:cubicBezTo>
                  <a:pt x="44119800" y="0"/>
                  <a:pt x="50958750" y="0"/>
                  <a:pt x="59245500" y="0"/>
                </a:cubicBezTo>
                <a:close/>
                <a:moveTo>
                  <a:pt x="20574000" y="90011250"/>
                </a:moveTo>
                <a:lnTo>
                  <a:pt x="20574000" y="131159250"/>
                </a:lnTo>
                <a:cubicBezTo>
                  <a:pt x="20574000" y="142179675"/>
                  <a:pt x="20583525" y="149666325"/>
                  <a:pt x="20964525" y="155448000"/>
                </a:cubicBezTo>
                <a:cubicBezTo>
                  <a:pt x="21326475" y="161077275"/>
                  <a:pt x="21993225" y="163972875"/>
                  <a:pt x="22812375" y="165982650"/>
                </a:cubicBezTo>
                <a:cubicBezTo>
                  <a:pt x="24793575" y="170811825"/>
                  <a:pt x="27936825" y="174755175"/>
                  <a:pt x="31803975" y="177222150"/>
                </a:cubicBezTo>
                <a:cubicBezTo>
                  <a:pt x="33413700" y="178250850"/>
                  <a:pt x="35728275" y="179079525"/>
                  <a:pt x="40233600" y="179536725"/>
                </a:cubicBezTo>
                <a:cubicBezTo>
                  <a:pt x="44862750" y="180012975"/>
                  <a:pt x="50844450" y="180022500"/>
                  <a:pt x="59664600" y="180022500"/>
                </a:cubicBezTo>
                <a:lnTo>
                  <a:pt x="146075400" y="180022500"/>
                </a:lnTo>
                <a:cubicBezTo>
                  <a:pt x="154895550" y="180022500"/>
                  <a:pt x="160877250" y="180012975"/>
                  <a:pt x="165506400" y="179536725"/>
                </a:cubicBezTo>
                <a:cubicBezTo>
                  <a:pt x="170011725" y="179079525"/>
                  <a:pt x="172326300" y="178250850"/>
                  <a:pt x="173936025" y="177222150"/>
                </a:cubicBezTo>
                <a:cubicBezTo>
                  <a:pt x="177803175" y="174755175"/>
                  <a:pt x="180946425" y="170811825"/>
                  <a:pt x="182927625" y="165982650"/>
                </a:cubicBezTo>
                <a:cubicBezTo>
                  <a:pt x="183746775" y="163972875"/>
                  <a:pt x="184413525" y="161077275"/>
                  <a:pt x="184775475" y="155448000"/>
                </a:cubicBezTo>
                <a:cubicBezTo>
                  <a:pt x="185156475" y="149666325"/>
                  <a:pt x="185166000" y="142179675"/>
                  <a:pt x="185166000" y="131159250"/>
                </a:cubicBezTo>
                <a:lnTo>
                  <a:pt x="185166000" y="90011250"/>
                </a:lnTo>
                <a:lnTo>
                  <a:pt x="20574000" y="90011250"/>
                </a:lnTo>
                <a:close/>
                <a:moveTo>
                  <a:pt x="185146950" y="64293750"/>
                </a:moveTo>
                <a:cubicBezTo>
                  <a:pt x="185118375" y="58559700"/>
                  <a:pt x="185023125" y="54073425"/>
                  <a:pt x="184775475" y="50292000"/>
                </a:cubicBezTo>
                <a:cubicBezTo>
                  <a:pt x="184413525" y="44662725"/>
                  <a:pt x="183746775" y="41767125"/>
                  <a:pt x="182927625" y="39757350"/>
                </a:cubicBezTo>
                <a:cubicBezTo>
                  <a:pt x="180946425" y="34928175"/>
                  <a:pt x="177803175" y="30994350"/>
                  <a:pt x="173936025" y="28517850"/>
                </a:cubicBezTo>
                <a:cubicBezTo>
                  <a:pt x="172326300" y="27489150"/>
                  <a:pt x="170011725" y="26660475"/>
                  <a:pt x="165506400" y="26203275"/>
                </a:cubicBezTo>
                <a:cubicBezTo>
                  <a:pt x="160877250" y="25727025"/>
                  <a:pt x="154895550" y="25717500"/>
                  <a:pt x="146075400" y="25717500"/>
                </a:cubicBezTo>
                <a:lnTo>
                  <a:pt x="59664600" y="25717500"/>
                </a:lnTo>
                <a:cubicBezTo>
                  <a:pt x="50844450" y="25717500"/>
                  <a:pt x="44862750" y="25727025"/>
                  <a:pt x="40233600" y="26203275"/>
                </a:cubicBezTo>
                <a:cubicBezTo>
                  <a:pt x="35728275" y="26660475"/>
                  <a:pt x="33413700" y="27489150"/>
                  <a:pt x="31803975" y="28517850"/>
                </a:cubicBezTo>
                <a:cubicBezTo>
                  <a:pt x="27936825" y="30994350"/>
                  <a:pt x="24793575" y="34928175"/>
                  <a:pt x="22812375" y="39757350"/>
                </a:cubicBezTo>
                <a:cubicBezTo>
                  <a:pt x="21993225" y="41767125"/>
                  <a:pt x="21326475" y="44662725"/>
                  <a:pt x="20964525" y="50292000"/>
                </a:cubicBezTo>
                <a:cubicBezTo>
                  <a:pt x="20716875" y="54073425"/>
                  <a:pt x="20621625" y="58559700"/>
                  <a:pt x="20593050" y="64293750"/>
                </a:cubicBezTo>
                <a:lnTo>
                  <a:pt x="185146950" y="64293750"/>
                </a:lnTo>
                <a:close/>
                <a:moveTo>
                  <a:pt x="123444000" y="141446250"/>
                </a:moveTo>
                <a:cubicBezTo>
                  <a:pt x="123444000" y="134350125"/>
                  <a:pt x="128054100" y="128587500"/>
                  <a:pt x="133731000" y="128587500"/>
                </a:cubicBezTo>
                <a:lnTo>
                  <a:pt x="154305000" y="128587500"/>
                </a:lnTo>
                <a:cubicBezTo>
                  <a:pt x="159981900" y="128587500"/>
                  <a:pt x="164592000" y="134350125"/>
                  <a:pt x="164592000" y="141446250"/>
                </a:cubicBezTo>
                <a:cubicBezTo>
                  <a:pt x="164592000" y="148542375"/>
                  <a:pt x="159981900" y="154305000"/>
                  <a:pt x="154305000" y="154305000"/>
                </a:cubicBezTo>
                <a:lnTo>
                  <a:pt x="133731000" y="154305000"/>
                </a:lnTo>
                <a:cubicBezTo>
                  <a:pt x="128054100" y="154305000"/>
                  <a:pt x="123444000" y="148542375"/>
                  <a:pt x="123444000" y="141446250"/>
                </a:cubicBezTo>
                <a:close/>
              </a:path>
            </a:pathLst>
          </a:custGeom>
          <a:solidFill xmlns:a="http://schemas.openxmlformats.org/drawingml/2006/main">
            <a:srgbClr val="000000"/>
          </a:solidFill>
        </p:spPr>
      </p:sp>
    </p:spTree>
    <p:extLst>
      <p:ext uri="{BB962C8B-B14F-4D97-AF65-F5344CB8AC3E}">
        <p14:creationId xmlns:p14="http://schemas.microsoft.com/office/powerpoint/2010/main" val="12877685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2026-08-04T04:25:11.1880000Z</dcterms:created>
  <dcterms:modified xsi:type="dcterms:W3CDTF">2026-08-04T04:25:11.1880000Z</dcterms:modified>
</coreProperties>
</file>